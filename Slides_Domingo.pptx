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4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95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94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93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43"/>
      <p:bold r:id="rId44"/>
      <p:italic r:id="rId45"/>
      <p:boldItalic r:id="rId4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7" roundtripDataSignature="AMtx7mj99o65RQNB+RqZ5MiLmsOXvECix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24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customschemas.google.com/relationships/presentationmetadata" Target="meta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1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4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4 jobs encadeados com 'needs:'. Cada job roda em runner ubuntu-latest isolado. O gate de qualidade no losango bloqueia o deploy quando a métrica do modelo regride: o pipeline falha cedo e barato. Em verde, o deploy chega a staging via curl ao DEPLOY_URL configurado em secrets.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fortemente recomendada: diagrama animado de rolling update mostrando 4 réplicas v1 sendo substituídas progressivamente por v2.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200">
                <a:solidFill>
                  <a:srgbClr val="202020"/>
                </a:solidFill>
                <a:latin typeface="Arial"/>
              </a:rPr>
              <a:t>Imagem opcional: screenshot do relatório HTML do Evidently mostrando drift por feature.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5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8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10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1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12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4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4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5880" y="1097280"/>
            <a:ext cx="7406640" cy="1463040"/>
          </a:xfrm>
        </p:spPr>
        <p:txBody>
          <a:bodyPr/>
          <a:lstStyle/>
          <a:p>
            <a:pPr algn="l"/>
            <a:r>
              <a:rPr dirty="0" err="1">
                <a:solidFill>
                  <a:srgbClr val="202020"/>
                </a:solidFill>
                <a:latin typeface="Arial"/>
              </a:rPr>
              <a:t>MLOps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5880" y="2651760"/>
            <a:ext cx="7406640" cy="164592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Modelos</a:t>
            </a:r>
            <a:r>
              <a:rPr sz="1800" dirty="0">
                <a:solidFill>
                  <a:srgbClr val="202020"/>
                </a:solidFill>
                <a:latin typeface="Arial"/>
              </a:rPr>
              <a:t> de IA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em</a:t>
            </a:r>
            <a:r>
              <a:rPr sz="1800" dirty="0">
                <a:solidFill>
                  <a:srgbClr val="202020"/>
                </a:solidFill>
                <a:latin typeface="Arial"/>
              </a:rPr>
              <a:t>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produção</a:t>
            </a:r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 err="1">
                <a:solidFill>
                  <a:srgbClr val="202020"/>
                </a:solidFill>
                <a:latin typeface="Arial"/>
              </a:rPr>
              <a:t>Encontro</a:t>
            </a:r>
            <a:r>
              <a:rPr sz="1800" dirty="0">
                <a:solidFill>
                  <a:srgbClr val="202020"/>
                </a:solidFill>
                <a:latin typeface="Arial"/>
              </a:rPr>
              <a:t> 2: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domingo</a:t>
            </a:r>
            <a:r>
              <a:rPr sz="1800" dirty="0">
                <a:solidFill>
                  <a:srgbClr val="202020"/>
                </a:solidFill>
                <a:latin typeface="Arial"/>
              </a:rPr>
              <a:t>, 31/05/2026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08h45 </a:t>
            </a:r>
            <a:r>
              <a:rPr sz="1800" dirty="0" err="1">
                <a:solidFill>
                  <a:srgbClr val="202020"/>
                </a:solidFill>
                <a:latin typeface="Arial"/>
              </a:rPr>
              <a:t>às</a:t>
            </a:r>
            <a:r>
              <a:rPr sz="1800" dirty="0">
                <a:solidFill>
                  <a:srgbClr val="202020"/>
                </a:solidFill>
                <a:latin typeface="Arial"/>
              </a:rPr>
              <a:t> 12h00</a:t>
            </a:r>
          </a:p>
          <a:p>
            <a:pPr algn="l"/>
            <a:endParaRPr sz="1800" dirty="0">
              <a:solidFill>
                <a:srgbClr val="202020"/>
              </a:solidFill>
              <a:latin typeface="Arial"/>
            </a:endParaRP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Prof. Dr. Gilvan Veras</a:t>
            </a:r>
          </a:p>
          <a:p>
            <a:pPr algn="l"/>
            <a:r>
              <a:rPr sz="1800" dirty="0">
                <a:solidFill>
                  <a:srgbClr val="202020"/>
                </a:solidFill>
                <a:latin typeface="Arial"/>
              </a:rPr>
              <a:t>gilvanveras@ufpi.edu.br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Agenda do domingo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08h45 às 09h25: Unidade 3 Parte 2 (CI/CD com GitHub Actions).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09h25 às 09h55: Estratégias de rollout (Rolling Update e variações).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09h55 às 10h10: Unidade 4 abertura (por que monitorar ML é diferente).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10h10 às 10h25: intervalo.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10h25 às 10h50: Unidade 4 (drift, feedback loops, ciclo de vida).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10h50 às 11h00: instruções da avaliação.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11h00 às 11h55: avaliação composta (Parte 1 + Parte 2).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11h55 às 12h00: encerramento.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4A111671-1800-D2EF-CCC2-707ADD732B7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</a:t>
            </a:fld>
            <a:endParaRPr lang="pt-B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Retomada do sábado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Stack: uv, Git, DVC, MLflow, FastAPI, Docker.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Modelo treinado, rastreado e registrado com alias @champion.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API HTTP servindo o @champion vigente em Docker.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Hoje fechamos o ciclo: CI/CD, monitoramento e ciclo de vida.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4D75C83-8835-0C3F-DA0F-20308E5D23B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</a:t>
            </a:fld>
            <a:endParaRPr lang="pt-B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3 (parte 2)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E1FE70-3228-C3AA-81C4-3F09046452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</a:t>
            </a:fld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Anatomia de um workflow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Disparado por eventos: push, pull_request, schedule, workflow_dispatch.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Composto por jobs, que rodam em runners (Ubuntu, Windows, macOS).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Jobs têm steps sequenciais; cada step é um shell ou uma action.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Outputs entre jobs via needs.&lt;job&gt;.outputs.&lt;key&gt;.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7CD5285-F111-C401-D4A5-0B39859A7C4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5</a:t>
            </a:fld>
            <a:endParaRPr lang="pt-B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Pipeline de ML em GitHub Actions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23106" y="2180706"/>
            <a:ext cx="1691640" cy="822960"/>
          </a:xfrm>
          <a:prstGeom prst="roundRect">
            <a:avLst/>
          </a:prstGeom>
          <a:solidFill>
            <a:srgbClr val="E3F2FD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validate-data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89066" y="2180706"/>
            <a:ext cx="1691640" cy="822960"/>
          </a:xfrm>
          <a:prstGeom prst="roundRect">
            <a:avLst/>
          </a:prstGeom>
          <a:solidFill>
            <a:srgbClr val="E8F5E9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train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255026" y="2180706"/>
            <a:ext cx="1691640" cy="822960"/>
          </a:xfrm>
          <a:prstGeom prst="roundRect">
            <a:avLst/>
          </a:prstGeom>
          <a:solidFill>
            <a:srgbClr val="FFF3E0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build &amp; push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0986" y="2180706"/>
            <a:ext cx="1691640" cy="822960"/>
          </a:xfrm>
          <a:prstGeom prst="roundRect">
            <a:avLst/>
          </a:prstGeom>
          <a:solidFill>
            <a:srgbClr val="FCE4EC"/>
          </a:solidFill>
          <a:ln w="9525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1400" b="1">
                <a:solidFill>
                  <a:srgbClr val="202020"/>
                </a:solidFill>
                <a:latin typeface="Arial"/>
              </a:rPr>
              <a:t>deploy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14746" y="2592186"/>
            <a:ext cx="27432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80706" y="2592186"/>
            <a:ext cx="27432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946666" y="2592186"/>
            <a:ext cx="274320" cy="0"/>
          </a:xfrm>
          <a:prstGeom prst="line">
            <a:avLst/>
          </a:prstGeom>
          <a:ln w="25400">
            <a:solidFill>
              <a:srgbClr val="70707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Diamond 9"/>
          <p:cNvSpPr/>
          <p:nvPr/>
        </p:nvSpPr>
        <p:spPr>
          <a:xfrm>
            <a:off x="4706386" y="1312026"/>
            <a:ext cx="822960" cy="640080"/>
          </a:xfrm>
          <a:prstGeom prst="diamond">
            <a:avLst/>
          </a:prstGeom>
          <a:solidFill>
            <a:srgbClr val="FFD54F"/>
          </a:solidFill>
          <a:ln w="9525">
            <a:solidFill>
              <a:srgbClr val="806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18288" rIns="45720" bIns="18288" rtlCol="0" anchor="ctr"/>
          <a:lstStyle/>
          <a:p>
            <a:pPr algn="ctr"/>
            <a:r>
              <a:rPr sz="900" b="1">
                <a:solidFill>
                  <a:srgbClr val="202020"/>
                </a:solidFill>
                <a:latin typeface="Arial"/>
              </a:rPr>
              <a:t>Acc
&gt;= 0.85?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117866" y="1952106"/>
            <a:ext cx="982980" cy="228600"/>
          </a:xfrm>
          <a:prstGeom prst="line">
            <a:avLst/>
          </a:prstGeom>
          <a:ln w="25400">
            <a:solidFill>
              <a:srgbClr val="806000"/>
            </a:solidFill>
            <a:tailEnd type="triangle" w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323106" y="3277985"/>
            <a:ext cx="75895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202020"/>
                </a:solidFill>
                <a:latin typeface="Arial"/>
              </a:rPr>
              <a:t>Jobs encadeados com 'needs:'. Gate de qualidade bloqueia deploy se métrica do modelo regredir.</a:t>
            </a:r>
          </a:p>
        </p:txBody>
      </p:sp>
      <p:sp>
        <p:nvSpPr>
          <p:cNvPr id="14" name="Espaço Reservado para Número de Slide 13">
            <a:extLst>
              <a:ext uri="{FF2B5EF4-FFF2-40B4-BE49-F238E27FC236}">
                <a16:creationId xmlns:a16="http://schemas.microsoft.com/office/drawing/2014/main" id="{48E3C414-A286-D124-E467-907E6C745CB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6</a:t>
            </a:fld>
            <a:endParaRPr lang="pt-B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Workflow típico de 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.github/workflows/ci.yml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1" y="1620000"/>
            <a:ext cx="3966556" cy="3300000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ctr"/>
          <a:lstStyle/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name: ci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on: { push: { branches: [main] }, pull_request: }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jobs: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quality: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runs-on: ubuntu-latest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steps: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actions/checkout@v4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astral-sh/setup-uv@v3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run: uv sync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run: uv run ruff check .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run: uv run pytest -q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build-and-push: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needs: quality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if: github.ref == 'refs/heads/main'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runs-on: ubuntu-latest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steps: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actions/checkout@v4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- uses: docker/build-push-action@v6</a:t>
            </a:r>
          </a:p>
          <a:p>
            <a:pPr algn="l"/>
            <a:r>
              <a:rPr sz="900">
                <a:solidFill>
                  <a:srgbClr val="222222"/>
                </a:solidFill>
                <a:latin typeface="Consolas"/>
              </a:rPr>
              <a:t>        with: { context: ., push: true, tags: '...' }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D1BF0778-921C-9736-3B60-DDEA838CF6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7</a:t>
            </a:fld>
            <a:endParaRPr lang="pt-B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6182" y="445025"/>
            <a:ext cx="7516118" cy="725684"/>
          </a:xfrm>
        </p:spPr>
        <p:txBody>
          <a:bodyPr>
            <a:normAutofit/>
          </a:bodyPr>
          <a:lstStyle/>
          <a:p>
            <a:r>
              <a:rPr dirty="0"/>
              <a:t>CI </a:t>
            </a:r>
            <a:r>
              <a:rPr dirty="0" err="1"/>
              <a:t>verde</a:t>
            </a:r>
            <a:r>
              <a:rPr dirty="0"/>
              <a:t> no GitHub Actions (UI)</a:t>
            </a:r>
          </a:p>
        </p:txBody>
      </p:sp>
      <p:pic>
        <p:nvPicPr>
          <p:cNvPr id="3" name="Picture 2" descr="ci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480" y="1300000"/>
            <a:ext cx="5333040" cy="370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Boas práticas em CI/CD para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Fail fast: lint antes de testes; testes antes de build; build antes de deploy.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Cache de dependências (setup-uv com enable-cache, actions/cache).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Secrets nunca commitados; sempre secrets.GITHUB_TOKEN ou secrets.&lt;nome&gt;.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Permissions mínimas declaradas por job.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Imagem com duas tags: :latest (humano) e :${{ github.sha }} (rastreável).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721A4F7-E3ED-6870-3FC3-87C3747C9F2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9</a:t>
            </a:fld>
            <a:endParaRPr lang="pt-B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400">
                <a:latin typeface="Arial"/>
              </a:rPr>
              <a:t>CI/CD de ML decide:</a:t>
            </a:r>
          </a:p>
          <a:p>
            <a:r>
              <a:rPr sz="3400">
                <a:latin typeface="Arial"/>
              </a:rPr>
              <a:t>promover ou não.</a:t>
            </a:r>
          </a:p>
        </p:txBody>
      </p:sp>
      <p:pic>
        <p:nvPicPr>
          <p:cNvPr id="4" name="Picture 3" descr="ge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825088D-7895-0C41-5EBC-3B348231DB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10</a:t>
            </a:fld>
            <a:endParaRPr lang="pt-B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Cinco estratégias de rollout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Recreate: derruba e sobe; downtime.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Rolling Update: substitui réplicas gradualmente; sem downtime.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Blue/Green: duas frotas idênticas; troca o roteador.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Canary: nova versão recebe X% do tráfego antes do resto.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Shadow: cópia do tráfego para a versão nova; resposta não vai ao usuário.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3214C360-3911-57B6-125F-A10FD10325F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11</a:t>
            </a:fld>
            <a:endParaRPr lang="pt-B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Recreate vs Rolling Update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Recreate: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downtime aceito.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risco alto.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usar apenas em dev.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Rolling Update: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sem downtime.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risco médio.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padrão em Kubernetes e ECS.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F2B2EA8-58CE-5E73-9826-2CA06E253D6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12</a:t>
            </a:fld>
            <a:endParaRPr lang="pt-B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Rolling Update em detalhe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5299364" cy="3223259"/>
          </a:xfrm>
        </p:spPr>
        <p:txBody>
          <a:bodyPr wrap="square">
            <a:normAutofit/>
          </a:bodyPr>
          <a:lstStyle/>
          <a:p>
            <a:r>
              <a:rPr sz="1600" dirty="0" err="1">
                <a:solidFill>
                  <a:srgbClr val="202020"/>
                </a:solidFill>
                <a:latin typeface="Arial"/>
              </a:rPr>
              <a:t>Suponha</a:t>
            </a:r>
            <a:r>
              <a:rPr sz="1600" dirty="0">
                <a:solidFill>
                  <a:srgbClr val="202020"/>
                </a:solidFill>
                <a:latin typeface="Arial"/>
              </a:rPr>
              <a:t> 4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réplicas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v1 e deploy de v2.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Orquestrador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sobe</a:t>
            </a:r>
            <a:r>
              <a:rPr sz="1600" dirty="0">
                <a:solidFill>
                  <a:srgbClr val="202020"/>
                </a:solidFill>
                <a:latin typeface="Arial"/>
              </a:rPr>
              <a:t> 1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réplica</a:t>
            </a:r>
            <a:r>
              <a:rPr sz="1600" dirty="0">
                <a:solidFill>
                  <a:srgbClr val="202020"/>
                </a:solidFill>
                <a:latin typeface="Arial"/>
              </a:rPr>
              <a:t> v2 e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aguarda</a:t>
            </a:r>
            <a:r>
              <a:rPr sz="1600" dirty="0">
                <a:solidFill>
                  <a:srgbClr val="202020"/>
                </a:solidFill>
                <a:latin typeface="Arial"/>
              </a:rPr>
              <a:t> readiness probe.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Derruba</a:t>
            </a:r>
            <a:r>
              <a:rPr sz="1600" dirty="0">
                <a:solidFill>
                  <a:srgbClr val="202020"/>
                </a:solidFill>
                <a:latin typeface="Arial"/>
              </a:rPr>
              <a:t> 1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réplica</a:t>
            </a:r>
            <a:r>
              <a:rPr sz="1600" dirty="0">
                <a:solidFill>
                  <a:srgbClr val="202020"/>
                </a:solidFill>
                <a:latin typeface="Arial"/>
              </a:rPr>
              <a:t> v1;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repete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até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completar</a:t>
            </a:r>
            <a:r>
              <a:rPr sz="1600" dirty="0">
                <a:solidFill>
                  <a:srgbClr val="202020"/>
                </a:solidFill>
                <a:latin typeface="Arial"/>
              </a:rPr>
              <a:t> 4.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maxSurge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controla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quantas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a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mais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podem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coexistir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  <a:p>
            <a:r>
              <a:rPr sz="1600" dirty="0" err="1">
                <a:solidFill>
                  <a:srgbClr val="202020"/>
                </a:solidFill>
                <a:latin typeface="Arial"/>
              </a:rPr>
              <a:t>maxUnavailable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controla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quantas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podem</a:t>
            </a:r>
            <a:r>
              <a:rPr sz="1600" dirty="0">
                <a:solidFill>
                  <a:srgbClr val="202020"/>
                </a:solidFill>
                <a:latin typeface="Arial"/>
              </a:rPr>
              <a:t>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estar</a:t>
            </a:r>
            <a:r>
              <a:rPr sz="1600" dirty="0">
                <a:solidFill>
                  <a:srgbClr val="202020"/>
                </a:solidFill>
                <a:latin typeface="Arial"/>
              </a:rPr>
              <a:t> fora.</a:t>
            </a:r>
          </a:p>
          <a:p>
            <a:r>
              <a:rPr sz="1600" dirty="0">
                <a:solidFill>
                  <a:srgbClr val="202020"/>
                </a:solidFill>
                <a:latin typeface="Arial"/>
              </a:rPr>
              <a:t>Falha de readiness pausa rollout </a:t>
            </a:r>
            <a:r>
              <a:rPr sz="1600" dirty="0" err="1">
                <a:solidFill>
                  <a:srgbClr val="202020"/>
                </a:solidFill>
                <a:latin typeface="Arial"/>
              </a:rPr>
              <a:t>automaticamente</a:t>
            </a:r>
            <a:r>
              <a:rPr sz="1600" dirty="0">
                <a:solidFill>
                  <a:srgbClr val="202020"/>
                </a:solidFill>
                <a:latin typeface="Arial"/>
              </a:rPr>
              <a:t>.</a:t>
            </a:r>
          </a:p>
        </p:txBody>
      </p:sp>
      <p:pic>
        <p:nvPicPr>
          <p:cNvPr id="5" name="Picture 4" descr="container_po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462" y="1507721"/>
            <a:ext cx="2128058" cy="2128058"/>
          </a:xfrm>
          <a:prstGeom prst="rect">
            <a:avLst/>
          </a:prstGeom>
        </p:spPr>
      </p:pic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257E6DF-0D97-5D34-10B1-36D73F322E8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13</a:t>
            </a:fld>
            <a:endParaRPr lang="pt-B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2800">
                <a:latin typeface="Arial"/>
              </a:rPr>
              <a:t>Shadow deployment:</a:t>
            </a:r>
          </a:p>
          <a:p>
            <a:r>
              <a:rPr sz="2800">
                <a:latin typeface="Arial"/>
              </a:rPr>
              <a:t>tráfego real, risco zero.</a:t>
            </a:r>
          </a:p>
        </p:txBody>
      </p:sp>
      <p:pic>
        <p:nvPicPr>
          <p:cNvPr id="4" name="Picture 3" descr="silhouet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A87193D-7DF4-FA12-A40B-CCA0BD1D027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14</a:t>
            </a:fld>
            <a:endParaRPr lang="pt-B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Shadow deployment para ML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Versão nova recebe cópia do tráfego de produção.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Resposta da versão nova NÃO chega ao usuário final.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Permite comparar predições novas e antigas em dados reais.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Gera dataset valioso antes de promover a champion.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Risco zero para a experiência do usuário.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4999AC2-7070-43B5-B48D-2C13FF06F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15</a:t>
            </a:fld>
            <a:endParaRPr lang="pt-B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6126" y="445025"/>
            <a:ext cx="7606173" cy="691048"/>
          </a:xfrm>
        </p:spPr>
        <p:txBody>
          <a:bodyPr>
            <a:normAutofit/>
          </a:bodyPr>
          <a:lstStyle/>
          <a:p>
            <a:r>
              <a:rPr dirty="0"/>
              <a:t>Deploy local: docker compose (UI)</a:t>
            </a:r>
          </a:p>
        </p:txBody>
      </p:sp>
      <p:pic>
        <p:nvPicPr>
          <p:cNvPr id="3" name="Picture 2" descr="compose_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3109" y="1136073"/>
            <a:ext cx="7042345" cy="330109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Unidade 4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42DEA3-BC9F-CBAA-9B8A-8BB41550466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17</a:t>
            </a:fld>
            <a:endParaRPr lang="pt-B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600">
                <a:latin typeface="Arial"/>
              </a:rPr>
              <a:t>Software falha alto.</a:t>
            </a:r>
          </a:p>
          <a:p>
            <a:r>
              <a:rPr sz="3600">
                <a:latin typeface="Arial"/>
              </a:rPr>
              <a:t>ML falha baixo.</a:t>
            </a:r>
          </a:p>
        </p:txBody>
      </p:sp>
      <p:pic>
        <p:nvPicPr>
          <p:cNvPr id="4" name="Picture 3" descr="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55AC41F1-47CB-29C1-D812-530DB7853D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18</a:t>
            </a:fld>
            <a:endParaRPr lang="pt-B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Por que monitorar ML é diferente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Software tradicional: exception, 500, latência. APM clássico detecta.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ML: continua respondendo 200 OK enquanto a acurácia degrada.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Causa típica: o mundo mudou (sazonalidade, regulação, novos perfis).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Sem monitoramento ativo, ninguém percebe até o KPI de negócio cair.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4DD05E1-DCA7-99FD-59ED-C69A819F54E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19</a:t>
            </a:fld>
            <a:endParaRPr lang="pt-B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Três camadas de métricas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Sistema: CPU, memória, latência p95, taxa de erro HTTP.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Modelo/dados: distribuição de features, distribuição de predições, drift.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Negócio: conversão, receita por predição, NPS.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 camada de negócio é a métrica final que importa.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As outras existem para protegê-la.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9FAAC87-3842-418B-6153-039AF63A87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20</a:t>
            </a:fld>
            <a:endParaRPr lang="pt-B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Data drift vs Concept drift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Data drift (covariate shift):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muda P(X).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Distribuição das entradas se desloca.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Ex.: pandemia muda mobilidade urbana.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>
          <a:xfrm>
            <a:off x="5074920" y="1280160"/>
            <a:ext cx="3657600" cy="3223259"/>
          </a:xfrm>
        </p:spPr>
        <p:txBody>
          <a:bodyPr wrap="square"/>
          <a:lstStyle/>
          <a:p>
            <a:r>
              <a:rPr sz="1400">
                <a:solidFill>
                  <a:srgbClr val="202020"/>
                </a:solidFill>
                <a:latin typeface="Arial"/>
              </a:rPr>
              <a:t>Concept drift: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muda P(Y|X).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A relação entrada-saída mudou.</a:t>
            </a:r>
          </a:p>
          <a:p>
            <a:pPr lvl="1"/>
            <a:r>
              <a:rPr sz="1400">
                <a:solidFill>
                  <a:srgbClr val="202020"/>
                </a:solidFill>
                <a:latin typeface="Arial"/>
              </a:rPr>
              <a:t>Ex.: comportamento de compra após inflação.</a:t>
            </a:r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548DCBC-1810-424F-4A56-4D8AE8125C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21</a:t>
            </a:fld>
            <a:endParaRPr lang="pt-B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Testes estatísticos para drift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Variáveis numéricas: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Kolmogorov-Smirnov (KS).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Wasserstein distance.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Population Stability Index (PSI).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Variáveis categóricas: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Chi-squared.</a:t>
            </a:r>
          </a:p>
          <a:p>
            <a:pPr lvl="1"/>
            <a:r>
              <a:rPr sz="1600">
                <a:solidFill>
                  <a:srgbClr val="202020"/>
                </a:solidFill>
                <a:latin typeface="Arial"/>
              </a:rPr>
              <a:t>Jensen-Shannon divergence.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Janela de referência (treino) versus janela atual (últimos N dias).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09A2A9D-AACD-072B-D5FC-2C0098CE3C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22</a:t>
            </a:fld>
            <a:endParaRPr lang="pt-B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 dirty="0">
                <a:solidFill>
                  <a:srgbClr val="202020"/>
                </a:solidFill>
                <a:latin typeface="Arial"/>
              </a:rPr>
              <a:t>Evidently AI </a:t>
            </a:r>
            <a:r>
              <a:rPr dirty="0" err="1">
                <a:solidFill>
                  <a:srgbClr val="202020"/>
                </a:solidFill>
                <a:latin typeface="Arial"/>
              </a:rPr>
              <a:t>em</a:t>
            </a:r>
            <a:r>
              <a:rPr dirty="0">
                <a:solidFill>
                  <a:srgbClr val="202020"/>
                </a:solidFill>
                <a:latin typeface="Arial"/>
              </a:rPr>
              <a:t> </a:t>
            </a:r>
            <a:r>
              <a:rPr dirty="0" err="1">
                <a:solidFill>
                  <a:srgbClr val="202020"/>
                </a:solidFill>
                <a:latin typeface="Arial"/>
              </a:rPr>
              <a:t>uma</a:t>
            </a:r>
            <a:r>
              <a:rPr dirty="0">
                <a:solidFill>
                  <a:srgbClr val="202020"/>
                </a:solidFill>
                <a:latin typeface="Arial"/>
              </a:rPr>
              <a:t> </a:t>
            </a:r>
            <a:r>
              <a:rPr dirty="0" err="1">
                <a:solidFill>
                  <a:srgbClr val="202020"/>
                </a:solidFill>
                <a:latin typeface="Arial"/>
              </a:rPr>
              <a:t>chamada</a:t>
            </a:r>
            <a:endParaRPr dirty="0">
              <a:solidFill>
                <a:srgbClr val="202020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325880" y="1280160"/>
            <a:ext cx="7406640" cy="29260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400" b="1">
                <a:solidFill>
                  <a:srgbClr val="1F1F1F"/>
                </a:solidFill>
                <a:latin typeface="Arial"/>
              </a:rPr>
              <a:t>drift_report.py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810511"/>
            <a:ext cx="7406640" cy="2394343"/>
          </a:xfrm>
          <a:prstGeom prst="round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91440" bIns="73152" rtlCol="0" anchor="t"/>
          <a:lstStyle/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from evidently import Report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from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evidently.presets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 import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DataDriftPreset</a:t>
            </a:r>
            <a:endParaRPr sz="1400" dirty="0">
              <a:solidFill>
                <a:srgbClr val="222222"/>
              </a:solidFill>
              <a:latin typeface="Consolas"/>
            </a:endParaRP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report = Report(metrics=[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DataDriftPreset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()])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snapshot =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report.run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(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   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reference_data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=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df_train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,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    </a:t>
            </a:r>
            <a:r>
              <a:rPr sz="1400" dirty="0" err="1">
                <a:solidFill>
                  <a:srgbClr val="222222"/>
                </a:solidFill>
                <a:latin typeface="Consolas"/>
              </a:rPr>
              <a:t>current_data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=df_prod_last_7d,</a:t>
            </a:r>
          </a:p>
          <a:p>
            <a:pPr algn="l"/>
            <a:r>
              <a:rPr sz="1400" dirty="0">
                <a:solidFill>
                  <a:srgbClr val="222222"/>
                </a:solidFill>
                <a:latin typeface="Consolas"/>
              </a:rPr>
              <a:t>)</a:t>
            </a:r>
          </a:p>
          <a:p>
            <a:pPr algn="l"/>
            <a:r>
              <a:rPr sz="1400" dirty="0" err="1">
                <a:solidFill>
                  <a:srgbClr val="222222"/>
                </a:solidFill>
                <a:latin typeface="Consolas"/>
              </a:rPr>
              <a:t>snapshot.save_html</a:t>
            </a:r>
            <a:r>
              <a:rPr sz="1400" dirty="0">
                <a:solidFill>
                  <a:srgbClr val="222222"/>
                </a:solidFill>
                <a:latin typeface="Consolas"/>
              </a:rPr>
              <a:t>("drift_report.html")</a:t>
            </a:r>
          </a:p>
        </p:txBody>
      </p:sp>
      <p:sp>
        <p:nvSpPr>
          <p:cNvPr id="3" name="Espaço Reservado para Número de Slide 2">
            <a:extLst>
              <a:ext uri="{FF2B5EF4-FFF2-40B4-BE49-F238E27FC236}">
                <a16:creationId xmlns:a16="http://schemas.microsoft.com/office/drawing/2014/main" id="{00EC0233-6E5D-E7BF-B4F7-9657CCE363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23</a:t>
            </a:fld>
            <a:endParaRPr lang="pt-B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8527" y="445025"/>
            <a:ext cx="7453772" cy="572700"/>
          </a:xfrm>
        </p:spPr>
        <p:txBody>
          <a:bodyPr>
            <a:noAutofit/>
          </a:bodyPr>
          <a:lstStyle/>
          <a:p>
            <a:r>
              <a:rPr dirty="0"/>
              <a:t>Evidently: </a:t>
            </a:r>
            <a:r>
              <a:rPr dirty="0" err="1"/>
              <a:t>relatorio</a:t>
            </a:r>
            <a:r>
              <a:rPr dirty="0"/>
              <a:t> de drift (UI)</a:t>
            </a:r>
          </a:p>
        </p:txBody>
      </p:sp>
      <p:pic>
        <p:nvPicPr>
          <p:cNvPr id="3" name="Picture 2" descr="drift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200" y="1300000"/>
            <a:ext cx="5925600" cy="37035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Log de predições: o que registrar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request_id (UUID) e timestamp UTC.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model_name e model_version (ou alias capturado no momento).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Payload de entrada (pseudonimizado, se houver PII).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Predição, probabilidade e latência.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Cabeçalhos relevantes (tenant, canal).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Armazenar em Postgres (volumes baixos) ou S3/Parquet (altos).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A269F15-7C1F-29C8-CCEA-F3212DAD3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25</a:t>
            </a:fld>
            <a:endParaRPr lang="pt-B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Feedback loops: três tipos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Explícito: usuário marcou 'isto está errado'. Raro.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Implícito: comportamento revela o real (clicou? converteu?).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Ground truth com atraso: rótulo real só aparece dias depois.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Cuidado: modelo pode influenciar o que vira dado de treino futuro.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Mitigação: exploração (epsilon-greedy, banditos), amostragem aleatória.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B17340AD-B269-46F1-E645-024766DC5C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26</a:t>
            </a:fld>
            <a:endParaRPr lang="pt-B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Triggers de retreino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Agendado: todo domingo às 03h. Previsível, talvez desnecessário.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Drift-based: PSI maior que 0.2 em qualquer feature dispara.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Performance-based: AUC observada cai 5% versus baseline.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Volume-based: N novos rótulos disponíveis.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Mais robusto: combinar drift-based + performance-based.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73FDAD25-D23B-FA4A-C4F1-D46D29FA8D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27</a:t>
            </a:fld>
            <a:endParaRPr lang="pt-B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200">
                <a:latin typeface="Arial"/>
              </a:rPr>
              <a:t>Champion hoje.</a:t>
            </a:r>
          </a:p>
          <a:p>
            <a:r>
              <a:rPr sz="3200">
                <a:latin typeface="Arial"/>
              </a:rPr>
              <a:t>Challenger amanhã.</a:t>
            </a:r>
          </a:p>
        </p:txBody>
      </p:sp>
      <p:pic>
        <p:nvPicPr>
          <p:cNvPr id="4" name="Picture 3" descr="ra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C76595F-DA6C-E3AF-D89D-E094FCCB88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28</a:t>
            </a:fld>
            <a:endParaRPr lang="pt-B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Pipeline de retreino ponta a ponta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Trigger dispara coleta de dados frescos.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Validação de dados (schema, ranges, sanidade).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Treino do challenger; avaliação contra o champion.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Registro do novo modelo no Model Registry.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Shadow scoring por X dias se a métrica passou o limiar.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Promoção a @champion; antigo vira @archived.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BAEF4E6-A8D0-DD0D-E3F5-6E9906856EE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29</a:t>
            </a:fld>
            <a:endParaRPr lang="pt-B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Resumo da Unidade 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 falha em silêncio. Monitoramento contínuo é essencial.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Três camadas de métricas; data drift e concept drift como diagnóstico.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Log de predições e feedback loops alimentam retreino.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Padrão Champion versus Challenger fecha o ciclo de vida.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7344514-283C-0CE6-B6DE-955C74F338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30</a:t>
            </a:fld>
            <a:endParaRPr lang="pt-B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Intervalo até 10h25</a:t>
            </a:r>
          </a:p>
        </p:txBody>
      </p:sp>
      <p:pic>
        <p:nvPicPr>
          <p:cNvPr id="4" name="Picture 3" descr="coffee_break_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851619E-C1D7-3772-9EE9-3B32713AC76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31</a:t>
            </a:fld>
            <a:endParaRPr lang="pt-B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Síntese do módulo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E0E394E-FF51-782F-6D3B-4008252689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32</a:t>
            </a:fld>
            <a:endParaRPr lang="pt-B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Mapa do que aprendemos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MLOps existe para levar modelo de notebook a produção e mantê-lo lá.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Ementa coberta: ambientes reprodutíveis, Git e DVC, MLflow, FastAPI, Docker, GitHub Actions, Rolling Update, drift, feedback loops, retreinamento.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Stack open-source completa: uv, Git, DVC, MLflow, FastAPI, Docker, GitHub Actions, Evidently.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Pipeline ponta a ponta: treino, registro, A/B, deploy condicional, monitoramento.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Tudo demonstrado ao vivo e disponível em github.com/gilvanveras/wine-mlops-solution.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21BBC9F-DDF1-7E32-756E-346C52D0BC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33</a:t>
            </a:fld>
            <a:endParaRPr lang="pt-B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Onde estudar mais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Designing Machine Learning Systems (Chip Huyen). Texto de referência.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Machine Learning Engineering (Andriy Burkov). Pragmático.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Practical MLOps (Gift e Deza). Automação ponta a ponta.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MLOps Zoomcamp (DataTalks.Club). Curso livre.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ML-ops.org e Awesome-MLOps no GitHub.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Documentação oficial de MLflow, DVC, FastAPI, GitHub Actions, Evidently.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D133D5A-ACCE-B534-D04A-9E53A95CDD8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34</a:t>
            </a:fld>
            <a:endParaRPr lang="pt-B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2011680"/>
            <a:ext cx="7406640" cy="109728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Avaliação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9CA392-F11A-A37D-6986-AA45996B097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35</a:t>
            </a:fld>
            <a:endParaRPr lang="pt-B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Estrutura da avaliação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Parte 1 (50 pts): Prova Objetiva. 10 questões de múltipla escolha. 30 min. Sem consulta.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Parte 2 (50 pts): Atividade Prática Operacional. Repositório pronto. 50 min. Com consulta.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Total 100 pts. Aprovação a partir de 60.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Cronograma: 11h00-11h30 Parte 1; 11h00-11h50 Parte 2; 11h50-11h55 demonstração.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EC64599-1419-81FB-BD1A-F52AF9CAE2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36</a:t>
            </a:fld>
            <a:endParaRPr lang="pt-B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Parte 1 - Prova Objetiva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10 questões de múltipla escolha, 5 pontos cada.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Conteúdo: tudo que vimos nos dois dias (Unidades 1 a 4).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Tempo: 30 minutos.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Sem consulta: nada de material, celular, IA ou internet.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Folha de resposta com seu nome no cabeçalho.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Mais de uma alternativa marcada na mesma questão anula a questão.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ED541154-89E8-B990-A9BD-B425E046C7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37</a:t>
            </a:fld>
            <a:endParaRPr lang="pt-B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Parte 2 - Atividade Prática Operacional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Repositório pronto em github.com/gilvanveras/wine-mlops-solution.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A: clonar e publicar no SEU GitHub.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B: workflow do GitHub Actions verde + imagem no GHCR pública.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C: docker compose up com MLflow e API rodando localmente.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Tarefa D: ciclo de vida demonstrado (bootstrap, train, evaluate, promote, curl).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Cada tarefa vale 12,5 pts.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9DCBAA64-B7B3-5A4D-D293-A1DCC24715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38</a:t>
            </a:fld>
            <a:endParaRPr lang="pt-B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411480"/>
            <a:ext cx="7406640" cy="777240"/>
          </a:xfrm>
        </p:spPr>
        <p:txBody>
          <a:bodyPr/>
          <a:lstStyle/>
          <a:p>
            <a:r>
              <a:rPr>
                <a:solidFill>
                  <a:srgbClr val="202020"/>
                </a:solidFill>
                <a:latin typeface="Arial"/>
              </a:rPr>
              <a:t>Regras da Parte 2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3000" y="1280160"/>
            <a:ext cx="7589520" cy="3223259"/>
          </a:xfrm>
        </p:spPr>
        <p:txBody>
          <a:bodyPr wrap="square"/>
          <a:lstStyle/>
          <a:p>
            <a:r>
              <a:rPr sz="1600">
                <a:solidFill>
                  <a:srgbClr val="202020"/>
                </a:solidFill>
                <a:latin typeface="Arial"/>
              </a:rPr>
              <a:t>Tempo: 50 minutos.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Permitido: documentação, internet, LLMs (ChatGPT, Claude, Copilot).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Vedado: compartilhar comandos, telas ou repositórios entre alunos.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Defesa oral pode ser pedida a qualquer momento.</a:t>
            </a:r>
          </a:p>
          <a:p>
            <a:r>
              <a:rPr sz="1600">
                <a:solidFill>
                  <a:srgbClr val="202020"/>
                </a:solidFill>
                <a:latin typeface="Arial"/>
              </a:rPr>
              <a:t>Entrega: link do seu repositório por e-mail antes de 11h55 + captura do docker compose ps.</a:t>
            </a:r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C9800F77-8805-D2DA-2F82-598E31D5134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39</a:t>
            </a:fld>
            <a:endParaRPr lang="pt-B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5880" y="914400"/>
            <a:ext cx="4114800" cy="3200400"/>
          </a:xfrm>
        </p:spPr>
        <p:txBody>
          <a:bodyPr/>
          <a:lstStyle/>
          <a:p>
            <a:r>
              <a:rPr sz="3200">
                <a:latin typeface="Arial"/>
              </a:rPr>
              <a:t>Boa avaliação.</a:t>
            </a:r>
          </a:p>
          <a:p>
            <a:r>
              <a:rPr sz="3200">
                <a:latin typeface="Arial"/>
              </a:rPr>
              <a:t>Parte 1 começa 10h30.</a:t>
            </a:r>
          </a:p>
        </p:txBody>
      </p:sp>
      <p:pic>
        <p:nvPicPr>
          <p:cNvPr id="4" name="Picture 3" descr="books_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280160"/>
            <a:ext cx="3017520" cy="3017520"/>
          </a:xfrm>
          <a:prstGeom prst="rect">
            <a:avLst/>
          </a:prstGeom>
        </p:spPr>
      </p:pic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8C90278-A385-2F50-B266-2036E4BDC6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 smtClean="0"/>
              <a:t>40</a:t>
            </a:fld>
            <a:endParaRPr lang="pt-B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1912</Words>
  <Application>Microsoft Office PowerPoint</Application>
  <PresentationFormat>Apresentação na tela (16:9)</PresentationFormat>
  <Paragraphs>257</Paragraphs>
  <Slides>40</Slides>
  <Notes>3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40</vt:i4>
      </vt:variant>
    </vt:vector>
  </HeadingPairs>
  <TitlesOfParts>
    <vt:vector size="43" baseType="lpstr">
      <vt:lpstr>Arial</vt:lpstr>
      <vt:lpstr>Consolas</vt:lpstr>
      <vt:lpstr>Simple Light</vt:lpstr>
      <vt:lpstr>MLOps</vt:lpstr>
      <vt:lpstr>Agenda do domingo</vt:lpstr>
      <vt:lpstr>Retomada do sábado</vt:lpstr>
      <vt:lpstr>Unidade 3 (parte 2)</vt:lpstr>
      <vt:lpstr>Anatomia de um workflow</vt:lpstr>
      <vt:lpstr>Pipeline de ML em GitHub Actions</vt:lpstr>
      <vt:lpstr>Workflow típico de ML</vt:lpstr>
      <vt:lpstr>CI verde no GitHub Actions (UI)</vt:lpstr>
      <vt:lpstr>Boas práticas em CI/CD para ML</vt:lpstr>
      <vt:lpstr>CI/CD de ML decide: promover ou não.</vt:lpstr>
      <vt:lpstr>Cinco estratégias de rollout</vt:lpstr>
      <vt:lpstr>Recreate vs Rolling Update</vt:lpstr>
      <vt:lpstr>Rolling Update em detalhe</vt:lpstr>
      <vt:lpstr>Shadow deployment: tráfego real, risco zero.</vt:lpstr>
      <vt:lpstr>Shadow deployment para ML</vt:lpstr>
      <vt:lpstr>Deploy local: docker compose (UI)</vt:lpstr>
      <vt:lpstr>Unidade 4</vt:lpstr>
      <vt:lpstr>Software falha alto. ML falha baixo.</vt:lpstr>
      <vt:lpstr>Por que monitorar ML é diferente</vt:lpstr>
      <vt:lpstr>Três camadas de métricas</vt:lpstr>
      <vt:lpstr>Data drift vs Concept drift</vt:lpstr>
      <vt:lpstr>Testes estatísticos para drift</vt:lpstr>
      <vt:lpstr>Evidently AI em uma chamada</vt:lpstr>
      <vt:lpstr>Evidently: relatorio de drift (UI)</vt:lpstr>
      <vt:lpstr>Log de predições: o que registrar</vt:lpstr>
      <vt:lpstr>Feedback loops: três tipos</vt:lpstr>
      <vt:lpstr>Triggers de retreino</vt:lpstr>
      <vt:lpstr>Champion hoje. Challenger amanhã.</vt:lpstr>
      <vt:lpstr>Pipeline de retreino ponta a ponta</vt:lpstr>
      <vt:lpstr>Resumo da Unidade 4</vt:lpstr>
      <vt:lpstr>Intervalo até 10h25</vt:lpstr>
      <vt:lpstr>Síntese do módulo</vt:lpstr>
      <vt:lpstr>Mapa do que aprendemos</vt:lpstr>
      <vt:lpstr>Onde estudar mais</vt:lpstr>
      <vt:lpstr>Avaliação</vt:lpstr>
      <vt:lpstr>Estrutura da avaliação</vt:lpstr>
      <vt:lpstr>Parte 1 - Prova Objetiva</vt:lpstr>
      <vt:lpstr>Parte 2 - Atividade Prática Operacional</vt:lpstr>
      <vt:lpstr>Regras da Parte 2</vt:lpstr>
      <vt:lpstr>Boa avaliação. Parte 1 começa 10h30.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AMANDA ALVES MOURA FÉ</dc:creator>
  <cp:lastModifiedBy>Gilvan Veras</cp:lastModifiedBy>
  <cp:revision>10</cp:revision>
  <dcterms:modified xsi:type="dcterms:W3CDTF">2026-05-30T06:01:50Z</dcterms:modified>
</cp:coreProperties>
</file>