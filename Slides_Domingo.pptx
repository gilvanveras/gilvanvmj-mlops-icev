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3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40"/>
      <p:bold r:id="rId41"/>
      <p:italic r:id="rId42"/>
      <p:boldItalic r:id="rId4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4" roundtripDataSignature="AMtx7mj99o65RQNB+RqZ5MiLmsOXvECix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245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3.fntdata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1.fntdata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4.fntdata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solidFill>
                  <a:srgbClr val="202020"/>
                </a:solidFill>
                <a:latin typeface="Arial"/>
              </a:rPr>
              <a:t>4 jobs encadeados com 'needs:'. Cada job roda em runner ubuntu-latest isolado. O gate de qualidade no losango bloqueia o deploy quando a métrica do modelo regride: o pipeline falha cedo e barato. Em verde, o deploy chega a staging via curl ao DEPLOY_URL configurado em secrets.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solidFill>
                  <a:srgbClr val="202020"/>
                </a:solidFill>
                <a:latin typeface="Arial"/>
              </a:rPr>
              <a:t>Imagem fortemente recomendada: diagrama animado de rolling update mostrando 4 réplicas v1 sendo substituídas progressivamente por v2.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solidFill>
                  <a:srgbClr val="202020"/>
                </a:solidFill>
                <a:latin typeface="Arial"/>
              </a:rPr>
              <a:t>Imagem opcional: screenshot do relatório HTML do Evidently mostrando drift por feature.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8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0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1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2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12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12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3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4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4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25880" y="1097280"/>
            <a:ext cx="7406640" cy="1463040"/>
          </a:xfrm>
        </p:spPr>
        <p:txBody>
          <a:bodyPr/>
          <a:lstStyle/>
          <a:p>
            <a:pPr algn="l"/>
            <a:r>
              <a:rPr dirty="0" err="1">
                <a:solidFill>
                  <a:srgbClr val="202020"/>
                </a:solidFill>
                <a:latin typeface="Arial"/>
              </a:rPr>
              <a:t>MLOps</a:t>
            </a:r>
            <a:endParaRPr dirty="0">
              <a:solidFill>
                <a:srgbClr val="202020"/>
              </a:solidFill>
              <a:latin typeface="Arial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25880" y="2651760"/>
            <a:ext cx="7406640" cy="1645920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sz="1800" dirty="0" err="1">
                <a:solidFill>
                  <a:srgbClr val="202020"/>
                </a:solidFill>
                <a:latin typeface="Arial"/>
              </a:rPr>
              <a:t>Modelos</a:t>
            </a:r>
            <a:r>
              <a:rPr sz="1800" dirty="0">
                <a:solidFill>
                  <a:srgbClr val="202020"/>
                </a:solidFill>
                <a:latin typeface="Arial"/>
              </a:rPr>
              <a:t> de IA </a:t>
            </a:r>
            <a:r>
              <a:rPr sz="1800" dirty="0" err="1">
                <a:solidFill>
                  <a:srgbClr val="202020"/>
                </a:solidFill>
                <a:latin typeface="Arial"/>
              </a:rPr>
              <a:t>em</a:t>
            </a:r>
            <a:r>
              <a:rPr sz="1800" dirty="0">
                <a:solidFill>
                  <a:srgbClr val="202020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202020"/>
                </a:solidFill>
                <a:latin typeface="Arial"/>
              </a:rPr>
              <a:t>produção</a:t>
            </a:r>
            <a:endParaRPr sz="1800" dirty="0">
              <a:solidFill>
                <a:srgbClr val="202020"/>
              </a:solidFill>
              <a:latin typeface="Arial"/>
            </a:endParaRPr>
          </a:p>
          <a:p>
            <a:pPr algn="l"/>
            <a:endParaRPr sz="1800" dirty="0">
              <a:solidFill>
                <a:srgbClr val="202020"/>
              </a:solidFill>
              <a:latin typeface="Arial"/>
            </a:endParaRPr>
          </a:p>
          <a:p>
            <a:pPr algn="l"/>
            <a:r>
              <a:rPr sz="1800" dirty="0" err="1">
                <a:solidFill>
                  <a:srgbClr val="202020"/>
                </a:solidFill>
                <a:latin typeface="Arial"/>
              </a:rPr>
              <a:t>Encontro</a:t>
            </a:r>
            <a:r>
              <a:rPr sz="1800" dirty="0">
                <a:solidFill>
                  <a:srgbClr val="202020"/>
                </a:solidFill>
                <a:latin typeface="Arial"/>
              </a:rPr>
              <a:t> 2: </a:t>
            </a:r>
            <a:r>
              <a:rPr sz="1800" dirty="0" err="1">
                <a:solidFill>
                  <a:srgbClr val="202020"/>
                </a:solidFill>
                <a:latin typeface="Arial"/>
              </a:rPr>
              <a:t>domingo</a:t>
            </a:r>
            <a:r>
              <a:rPr sz="1800" dirty="0">
                <a:solidFill>
                  <a:srgbClr val="202020"/>
                </a:solidFill>
                <a:latin typeface="Arial"/>
              </a:rPr>
              <a:t>, 31/05/2026</a:t>
            </a:r>
          </a:p>
          <a:p>
            <a:pPr algn="l"/>
            <a:r>
              <a:rPr sz="1800" dirty="0">
                <a:solidFill>
                  <a:srgbClr val="202020"/>
                </a:solidFill>
                <a:latin typeface="Arial"/>
              </a:rPr>
              <a:t>08h45 </a:t>
            </a:r>
            <a:r>
              <a:rPr sz="1800" dirty="0" err="1">
                <a:solidFill>
                  <a:srgbClr val="202020"/>
                </a:solidFill>
                <a:latin typeface="Arial"/>
              </a:rPr>
              <a:t>às</a:t>
            </a:r>
            <a:r>
              <a:rPr sz="1800" dirty="0">
                <a:solidFill>
                  <a:srgbClr val="202020"/>
                </a:solidFill>
                <a:latin typeface="Arial"/>
              </a:rPr>
              <a:t> 12h00</a:t>
            </a:r>
          </a:p>
          <a:p>
            <a:pPr algn="l"/>
            <a:endParaRPr sz="1800" dirty="0">
              <a:solidFill>
                <a:srgbClr val="202020"/>
              </a:solidFill>
              <a:latin typeface="Arial"/>
            </a:endParaRPr>
          </a:p>
          <a:p>
            <a:pPr algn="l"/>
            <a:r>
              <a:rPr sz="1800" dirty="0">
                <a:solidFill>
                  <a:srgbClr val="202020"/>
                </a:solidFill>
                <a:latin typeface="Arial"/>
              </a:rPr>
              <a:t>Prof. Dr. Gilvan Veras</a:t>
            </a:r>
          </a:p>
          <a:p>
            <a:pPr algn="l"/>
            <a:r>
              <a:rPr sz="1800" dirty="0">
                <a:solidFill>
                  <a:srgbClr val="202020"/>
                </a:solidFill>
                <a:latin typeface="Arial"/>
              </a:rPr>
              <a:t>gilvanveras@ufpi.edu.br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5880" y="411480"/>
            <a:ext cx="7406640" cy="777240"/>
          </a:xfrm>
        </p:spPr>
        <p:txBody>
          <a:bodyPr/>
          <a:lstStyle/>
          <a:p>
            <a:r>
              <a:rPr>
                <a:solidFill>
                  <a:srgbClr val="202020"/>
                </a:solidFill>
                <a:latin typeface="Arial"/>
              </a:rPr>
              <a:t>Agenda do domingo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1280160"/>
            <a:ext cx="7589520" cy="3223259"/>
          </a:xfrm>
        </p:spPr>
        <p:txBody>
          <a:bodyPr wrap="square"/>
          <a:lstStyle/>
          <a:p>
            <a:r>
              <a:rPr sz="1600">
                <a:solidFill>
                  <a:srgbClr val="202020"/>
                </a:solidFill>
                <a:latin typeface="Arial"/>
              </a:rPr>
              <a:t>08h45 às 09h25: Unidade 3 Parte 2 (CI/CD com GitHub Actions).</a:t>
            </a:r>
          </a:p>
          <a:p>
            <a:r>
              <a:rPr sz="1600">
                <a:solidFill>
                  <a:srgbClr val="202020"/>
                </a:solidFill>
                <a:latin typeface="Arial"/>
              </a:rPr>
              <a:t>09h25 às 09h55: Estratégias de rollout (Rolling Update e variações).</a:t>
            </a:r>
          </a:p>
          <a:p>
            <a:r>
              <a:rPr sz="1600">
                <a:solidFill>
                  <a:srgbClr val="202020"/>
                </a:solidFill>
                <a:latin typeface="Arial"/>
              </a:rPr>
              <a:t>09h55 às 10h10: Unidade 4 abertura (por que monitorar ML é diferente).</a:t>
            </a:r>
          </a:p>
          <a:p>
            <a:r>
              <a:rPr sz="1600">
                <a:solidFill>
                  <a:srgbClr val="202020"/>
                </a:solidFill>
                <a:latin typeface="Arial"/>
              </a:rPr>
              <a:t>10h10 às 10h25: intervalo.</a:t>
            </a:r>
          </a:p>
          <a:p>
            <a:r>
              <a:rPr sz="1600">
                <a:solidFill>
                  <a:srgbClr val="202020"/>
                </a:solidFill>
                <a:latin typeface="Arial"/>
              </a:rPr>
              <a:t>10h25 às 10h50: Unidade 4 (drift, feedback loops, ciclo de vida).</a:t>
            </a:r>
          </a:p>
          <a:p>
            <a:r>
              <a:rPr sz="1600">
                <a:solidFill>
                  <a:srgbClr val="202020"/>
                </a:solidFill>
                <a:latin typeface="Arial"/>
              </a:rPr>
              <a:t>10h50 às 11h00: instruções da avaliação.</a:t>
            </a:r>
          </a:p>
          <a:p>
            <a:r>
              <a:rPr sz="1600">
                <a:solidFill>
                  <a:srgbClr val="202020"/>
                </a:solidFill>
                <a:latin typeface="Arial"/>
              </a:rPr>
              <a:t>11h00 às 11h55: avaliação composta (Parte 1 + Parte 2).</a:t>
            </a:r>
          </a:p>
          <a:p>
            <a:r>
              <a:rPr sz="1600">
                <a:solidFill>
                  <a:srgbClr val="202020"/>
                </a:solidFill>
                <a:latin typeface="Arial"/>
              </a:rPr>
              <a:t>11h55 às 12h00: encerramento.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A111671-1800-D2EF-CCC2-707ADD732B7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2</a:t>
            </a:fld>
            <a:endParaRPr lang="pt-B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5880" y="411480"/>
            <a:ext cx="7406640" cy="777240"/>
          </a:xfrm>
        </p:spPr>
        <p:txBody>
          <a:bodyPr/>
          <a:lstStyle/>
          <a:p>
            <a:r>
              <a:rPr>
                <a:solidFill>
                  <a:srgbClr val="202020"/>
                </a:solidFill>
                <a:latin typeface="Arial"/>
              </a:rPr>
              <a:t>Retomada do sábado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1280160"/>
            <a:ext cx="7589520" cy="3223259"/>
          </a:xfrm>
        </p:spPr>
        <p:txBody>
          <a:bodyPr wrap="square"/>
          <a:lstStyle/>
          <a:p>
            <a:r>
              <a:rPr sz="1600">
                <a:solidFill>
                  <a:srgbClr val="202020"/>
                </a:solidFill>
                <a:latin typeface="Arial"/>
              </a:rPr>
              <a:t>Stack: uv, Git, DVC, MLflow, FastAPI, Docker.</a:t>
            </a:r>
          </a:p>
          <a:p>
            <a:r>
              <a:rPr sz="1600">
                <a:solidFill>
                  <a:srgbClr val="202020"/>
                </a:solidFill>
                <a:latin typeface="Arial"/>
              </a:rPr>
              <a:t>Modelo treinado, rastreado e registrado com alias @champion.</a:t>
            </a:r>
          </a:p>
          <a:p>
            <a:r>
              <a:rPr sz="1600">
                <a:solidFill>
                  <a:srgbClr val="202020"/>
                </a:solidFill>
                <a:latin typeface="Arial"/>
              </a:rPr>
              <a:t>API HTTP servindo o @champion vigente em Docker.</a:t>
            </a:r>
          </a:p>
          <a:p>
            <a:r>
              <a:rPr sz="1600">
                <a:solidFill>
                  <a:srgbClr val="202020"/>
                </a:solidFill>
                <a:latin typeface="Arial"/>
              </a:rPr>
              <a:t>Hoje fechamos o ciclo: CI/CD, monitoramento e ciclo de vida.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4D75C83-8835-0C3F-DA0F-20308E5D23B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3</a:t>
            </a:fld>
            <a:endParaRPr lang="pt-B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5880" y="2011680"/>
            <a:ext cx="7406640" cy="1097280"/>
          </a:xfrm>
        </p:spPr>
        <p:txBody>
          <a:bodyPr/>
          <a:lstStyle/>
          <a:p>
            <a:r>
              <a:rPr>
                <a:solidFill>
                  <a:srgbClr val="202020"/>
                </a:solidFill>
                <a:latin typeface="Arial"/>
              </a:rPr>
              <a:t>Unidade 3 (parte 2)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1E1FE70-3228-C3AA-81C4-3F09046452C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4</a:t>
            </a:fld>
            <a:endParaRPr lang="pt-B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5880" y="411480"/>
            <a:ext cx="7406640" cy="777240"/>
          </a:xfrm>
        </p:spPr>
        <p:txBody>
          <a:bodyPr/>
          <a:lstStyle/>
          <a:p>
            <a:r>
              <a:rPr>
                <a:solidFill>
                  <a:srgbClr val="202020"/>
                </a:solidFill>
                <a:latin typeface="Arial"/>
              </a:rPr>
              <a:t>Anatomia de um workflow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1280160"/>
            <a:ext cx="7589520" cy="3223259"/>
          </a:xfrm>
        </p:spPr>
        <p:txBody>
          <a:bodyPr wrap="square"/>
          <a:lstStyle/>
          <a:p>
            <a:r>
              <a:rPr sz="1600">
                <a:solidFill>
                  <a:srgbClr val="202020"/>
                </a:solidFill>
                <a:latin typeface="Arial"/>
              </a:rPr>
              <a:t>Disparado por eventos: push, pull_request, schedule, workflow_dispatch.</a:t>
            </a:r>
          </a:p>
          <a:p>
            <a:r>
              <a:rPr sz="1600">
                <a:solidFill>
                  <a:srgbClr val="202020"/>
                </a:solidFill>
                <a:latin typeface="Arial"/>
              </a:rPr>
              <a:t>Composto por jobs, que rodam em runners (Ubuntu, Windows, macOS).</a:t>
            </a:r>
          </a:p>
          <a:p>
            <a:r>
              <a:rPr sz="1600">
                <a:solidFill>
                  <a:srgbClr val="202020"/>
                </a:solidFill>
                <a:latin typeface="Arial"/>
              </a:rPr>
              <a:t>Jobs têm steps sequenciais; cada step é um shell ou uma action.</a:t>
            </a:r>
          </a:p>
          <a:p>
            <a:r>
              <a:rPr sz="1600">
                <a:solidFill>
                  <a:srgbClr val="202020"/>
                </a:solidFill>
                <a:latin typeface="Arial"/>
              </a:rPr>
              <a:t>Outputs entre jobs via needs.&lt;job&gt;.outputs.&lt;key&gt;.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7CD5285-F111-C401-D4A5-0B39859A7C4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5</a:t>
            </a:fld>
            <a:endParaRPr lang="pt-B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5880" y="411480"/>
            <a:ext cx="7406640" cy="777240"/>
          </a:xfrm>
        </p:spPr>
        <p:txBody>
          <a:bodyPr/>
          <a:lstStyle/>
          <a:p>
            <a:r>
              <a:rPr>
                <a:solidFill>
                  <a:srgbClr val="202020"/>
                </a:solidFill>
                <a:latin typeface="Arial"/>
              </a:rPr>
              <a:t>Pipeline de ML em GitHub Actions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23106" y="2180706"/>
            <a:ext cx="1691640" cy="822960"/>
          </a:xfrm>
          <a:prstGeom prst="roundRect">
            <a:avLst/>
          </a:prstGeom>
          <a:solidFill>
            <a:srgbClr val="E3F2FD"/>
          </a:solidFill>
          <a:ln w="9525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400" b="1">
                <a:solidFill>
                  <a:srgbClr val="202020"/>
                </a:solidFill>
                <a:latin typeface="Arial"/>
              </a:rPr>
              <a:t>validate-data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89066" y="2180706"/>
            <a:ext cx="1691640" cy="822960"/>
          </a:xfrm>
          <a:prstGeom prst="roundRect">
            <a:avLst/>
          </a:prstGeom>
          <a:solidFill>
            <a:srgbClr val="E8F5E9"/>
          </a:solidFill>
          <a:ln w="9525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400" b="1">
                <a:solidFill>
                  <a:srgbClr val="202020"/>
                </a:solidFill>
                <a:latin typeface="Arial"/>
              </a:rPr>
              <a:t>train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255026" y="2180706"/>
            <a:ext cx="1691640" cy="822960"/>
          </a:xfrm>
          <a:prstGeom prst="roundRect">
            <a:avLst/>
          </a:prstGeom>
          <a:solidFill>
            <a:srgbClr val="FFF3E0"/>
          </a:solidFill>
          <a:ln w="9525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400" b="1">
                <a:solidFill>
                  <a:srgbClr val="202020"/>
                </a:solidFill>
                <a:latin typeface="Arial"/>
              </a:rPr>
              <a:t>build &amp; push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20986" y="2180706"/>
            <a:ext cx="1691640" cy="822960"/>
          </a:xfrm>
          <a:prstGeom prst="roundRect">
            <a:avLst/>
          </a:prstGeom>
          <a:solidFill>
            <a:srgbClr val="FCE4EC"/>
          </a:solidFill>
          <a:ln w="9525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400" b="1">
                <a:solidFill>
                  <a:srgbClr val="202020"/>
                </a:solidFill>
                <a:latin typeface="Arial"/>
              </a:rPr>
              <a:t>deploy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014746" y="2592186"/>
            <a:ext cx="274320" cy="0"/>
          </a:xfrm>
          <a:prstGeom prst="line">
            <a:avLst/>
          </a:prstGeom>
          <a:ln w="25400">
            <a:solidFill>
              <a:srgbClr val="707070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980706" y="2592186"/>
            <a:ext cx="274320" cy="0"/>
          </a:xfrm>
          <a:prstGeom prst="line">
            <a:avLst/>
          </a:prstGeom>
          <a:ln w="25400">
            <a:solidFill>
              <a:srgbClr val="707070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946666" y="2592186"/>
            <a:ext cx="274320" cy="0"/>
          </a:xfrm>
          <a:prstGeom prst="line">
            <a:avLst/>
          </a:prstGeom>
          <a:ln w="25400">
            <a:solidFill>
              <a:srgbClr val="707070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Diamond 9"/>
          <p:cNvSpPr/>
          <p:nvPr/>
        </p:nvSpPr>
        <p:spPr>
          <a:xfrm>
            <a:off x="4706386" y="1312026"/>
            <a:ext cx="822960" cy="640080"/>
          </a:xfrm>
          <a:prstGeom prst="diamond">
            <a:avLst/>
          </a:prstGeom>
          <a:solidFill>
            <a:srgbClr val="FFD54F"/>
          </a:solidFill>
          <a:ln w="9525">
            <a:solidFill>
              <a:srgbClr val="806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900" b="1">
                <a:solidFill>
                  <a:srgbClr val="202020"/>
                </a:solidFill>
                <a:latin typeface="Arial"/>
              </a:rPr>
              <a:t>Acc
&gt;= 0.85?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117866" y="1952106"/>
            <a:ext cx="982980" cy="228600"/>
          </a:xfrm>
          <a:prstGeom prst="line">
            <a:avLst/>
          </a:prstGeom>
          <a:ln w="25400">
            <a:solidFill>
              <a:srgbClr val="806000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323106" y="3277985"/>
            <a:ext cx="7589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202020"/>
                </a:solidFill>
                <a:latin typeface="Arial"/>
              </a:rPr>
              <a:t>Jobs encadeados com 'needs:'. Gate de qualidade bloqueia deploy se métrica do modelo regredir.</a:t>
            </a:r>
          </a:p>
        </p:txBody>
      </p:sp>
      <p:sp>
        <p:nvSpPr>
          <p:cNvPr id="14" name="Espaço Reservado para Número de Slide 13">
            <a:extLst>
              <a:ext uri="{FF2B5EF4-FFF2-40B4-BE49-F238E27FC236}">
                <a16:creationId xmlns:a16="http://schemas.microsoft.com/office/drawing/2014/main" id="{48E3C414-A286-D124-E467-907E6C745CB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6</a:t>
            </a:fld>
            <a:endParaRPr lang="pt-B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5880" y="411480"/>
            <a:ext cx="7406640" cy="777240"/>
          </a:xfrm>
        </p:spPr>
        <p:txBody>
          <a:bodyPr/>
          <a:lstStyle/>
          <a:p>
            <a:r>
              <a:rPr>
                <a:solidFill>
                  <a:srgbClr val="202020"/>
                </a:solidFill>
                <a:latin typeface="Arial"/>
              </a:rPr>
              <a:t>Workflow típico de 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280160"/>
            <a:ext cx="740664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1">
                <a:solidFill>
                  <a:srgbClr val="1F1F1F"/>
                </a:solidFill>
                <a:latin typeface="Arial"/>
              </a:rPr>
              <a:t>.github/workflows/ci.yml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25881" y="1620000"/>
            <a:ext cx="3966556" cy="3300000"/>
          </a:xfrm>
          <a:prstGeom prst="round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bIns="73152" rtlCol="0" anchor="ctr"/>
          <a:lstStyle/>
          <a:p>
            <a:pPr algn="l"/>
            <a:r>
              <a:rPr sz="900">
                <a:solidFill>
                  <a:srgbClr val="222222"/>
                </a:solidFill>
                <a:latin typeface="Consolas"/>
              </a:rPr>
              <a:t>name: ci</a:t>
            </a:r>
          </a:p>
          <a:p>
            <a:pPr algn="l"/>
            <a:r>
              <a:rPr sz="900">
                <a:solidFill>
                  <a:srgbClr val="222222"/>
                </a:solidFill>
                <a:latin typeface="Consolas"/>
              </a:rPr>
              <a:t>on: { push: { branches: [main] }, pull_request: }</a:t>
            </a:r>
          </a:p>
          <a:p>
            <a:pPr algn="l"/>
            <a:r>
              <a:rPr sz="900">
                <a:solidFill>
                  <a:srgbClr val="222222"/>
                </a:solidFill>
                <a:latin typeface="Consolas"/>
              </a:rPr>
              <a:t> </a:t>
            </a:r>
          </a:p>
          <a:p>
            <a:pPr algn="l"/>
            <a:r>
              <a:rPr sz="900">
                <a:solidFill>
                  <a:srgbClr val="222222"/>
                </a:solidFill>
                <a:latin typeface="Consolas"/>
              </a:rPr>
              <a:t>jobs:</a:t>
            </a:r>
          </a:p>
          <a:p>
            <a:pPr algn="l"/>
            <a:r>
              <a:rPr sz="900">
                <a:solidFill>
                  <a:srgbClr val="222222"/>
                </a:solidFill>
                <a:latin typeface="Consolas"/>
              </a:rPr>
              <a:t>  quality:</a:t>
            </a:r>
          </a:p>
          <a:p>
            <a:pPr algn="l"/>
            <a:r>
              <a:rPr sz="900">
                <a:solidFill>
                  <a:srgbClr val="222222"/>
                </a:solidFill>
                <a:latin typeface="Consolas"/>
              </a:rPr>
              <a:t>    runs-on: ubuntu-latest</a:t>
            </a:r>
          </a:p>
          <a:p>
            <a:pPr algn="l"/>
            <a:r>
              <a:rPr sz="900">
                <a:solidFill>
                  <a:srgbClr val="222222"/>
                </a:solidFill>
                <a:latin typeface="Consolas"/>
              </a:rPr>
              <a:t>    steps:</a:t>
            </a:r>
          </a:p>
          <a:p>
            <a:pPr algn="l"/>
            <a:r>
              <a:rPr sz="900">
                <a:solidFill>
                  <a:srgbClr val="222222"/>
                </a:solidFill>
                <a:latin typeface="Consolas"/>
              </a:rPr>
              <a:t>      - uses: actions/checkout@v4</a:t>
            </a:r>
          </a:p>
          <a:p>
            <a:pPr algn="l"/>
            <a:r>
              <a:rPr sz="900">
                <a:solidFill>
                  <a:srgbClr val="222222"/>
                </a:solidFill>
                <a:latin typeface="Consolas"/>
              </a:rPr>
              <a:t>      - uses: astral-sh/setup-uv@v3</a:t>
            </a:r>
          </a:p>
          <a:p>
            <a:pPr algn="l"/>
            <a:r>
              <a:rPr sz="900">
                <a:solidFill>
                  <a:srgbClr val="222222"/>
                </a:solidFill>
                <a:latin typeface="Consolas"/>
              </a:rPr>
              <a:t>      - run: uv sync</a:t>
            </a:r>
          </a:p>
          <a:p>
            <a:pPr algn="l"/>
            <a:r>
              <a:rPr sz="900">
                <a:solidFill>
                  <a:srgbClr val="222222"/>
                </a:solidFill>
                <a:latin typeface="Consolas"/>
              </a:rPr>
              <a:t>      - run: uv run ruff check .</a:t>
            </a:r>
          </a:p>
          <a:p>
            <a:pPr algn="l"/>
            <a:r>
              <a:rPr sz="900">
                <a:solidFill>
                  <a:srgbClr val="222222"/>
                </a:solidFill>
                <a:latin typeface="Consolas"/>
              </a:rPr>
              <a:t>      - run: uv run pytest -q</a:t>
            </a:r>
          </a:p>
          <a:p>
            <a:pPr algn="l"/>
            <a:r>
              <a:rPr sz="900">
                <a:solidFill>
                  <a:srgbClr val="222222"/>
                </a:solidFill>
                <a:latin typeface="Consolas"/>
              </a:rPr>
              <a:t> </a:t>
            </a:r>
          </a:p>
          <a:p>
            <a:pPr algn="l"/>
            <a:r>
              <a:rPr sz="900">
                <a:solidFill>
                  <a:srgbClr val="222222"/>
                </a:solidFill>
                <a:latin typeface="Consolas"/>
              </a:rPr>
              <a:t>  build-and-push:</a:t>
            </a:r>
          </a:p>
          <a:p>
            <a:pPr algn="l"/>
            <a:r>
              <a:rPr sz="900">
                <a:solidFill>
                  <a:srgbClr val="222222"/>
                </a:solidFill>
                <a:latin typeface="Consolas"/>
              </a:rPr>
              <a:t>    needs: quality</a:t>
            </a:r>
          </a:p>
          <a:p>
            <a:pPr algn="l"/>
            <a:r>
              <a:rPr sz="900">
                <a:solidFill>
                  <a:srgbClr val="222222"/>
                </a:solidFill>
                <a:latin typeface="Consolas"/>
              </a:rPr>
              <a:t>    if: github.ref == 'refs/heads/main'</a:t>
            </a:r>
          </a:p>
          <a:p>
            <a:pPr algn="l"/>
            <a:r>
              <a:rPr sz="900">
                <a:solidFill>
                  <a:srgbClr val="222222"/>
                </a:solidFill>
                <a:latin typeface="Consolas"/>
              </a:rPr>
              <a:t>    runs-on: ubuntu-latest</a:t>
            </a:r>
          </a:p>
          <a:p>
            <a:pPr algn="l"/>
            <a:r>
              <a:rPr sz="900">
                <a:solidFill>
                  <a:srgbClr val="222222"/>
                </a:solidFill>
                <a:latin typeface="Consolas"/>
              </a:rPr>
              <a:t>    steps:</a:t>
            </a:r>
          </a:p>
          <a:p>
            <a:pPr algn="l"/>
            <a:r>
              <a:rPr sz="900">
                <a:solidFill>
                  <a:srgbClr val="222222"/>
                </a:solidFill>
                <a:latin typeface="Consolas"/>
              </a:rPr>
              <a:t>      - uses: actions/checkout@v4</a:t>
            </a:r>
          </a:p>
          <a:p>
            <a:pPr algn="l"/>
            <a:r>
              <a:rPr sz="900">
                <a:solidFill>
                  <a:srgbClr val="222222"/>
                </a:solidFill>
                <a:latin typeface="Consolas"/>
              </a:rPr>
              <a:t>      - uses: docker/build-push-action@v6</a:t>
            </a:r>
          </a:p>
          <a:p>
            <a:pPr algn="l"/>
            <a:r>
              <a:rPr sz="900">
                <a:solidFill>
                  <a:srgbClr val="222222"/>
                </a:solidFill>
                <a:latin typeface="Consolas"/>
              </a:rPr>
              <a:t>        with: { context: ., push: true, tags: '...' }</a:t>
            </a: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D1BF0778-921C-9736-3B60-DDEA838CF65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7</a:t>
            </a:fld>
            <a:endParaRPr lang="pt-B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5880" y="411480"/>
            <a:ext cx="7406640" cy="777240"/>
          </a:xfrm>
        </p:spPr>
        <p:txBody>
          <a:bodyPr/>
          <a:lstStyle/>
          <a:p>
            <a:r>
              <a:rPr>
                <a:solidFill>
                  <a:srgbClr val="202020"/>
                </a:solidFill>
                <a:latin typeface="Arial"/>
              </a:rPr>
              <a:t>Boas práticas em CI/CD para ML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1280160"/>
            <a:ext cx="7589520" cy="3223259"/>
          </a:xfrm>
        </p:spPr>
        <p:txBody>
          <a:bodyPr wrap="square"/>
          <a:lstStyle/>
          <a:p>
            <a:r>
              <a:rPr sz="1600">
                <a:solidFill>
                  <a:srgbClr val="202020"/>
                </a:solidFill>
                <a:latin typeface="Arial"/>
              </a:rPr>
              <a:t>Fail fast: lint antes de testes; testes antes de build; build antes de deploy.</a:t>
            </a:r>
          </a:p>
          <a:p>
            <a:r>
              <a:rPr sz="1600">
                <a:solidFill>
                  <a:srgbClr val="202020"/>
                </a:solidFill>
                <a:latin typeface="Arial"/>
              </a:rPr>
              <a:t>Cache de dependências (setup-uv com enable-cache, actions/cache).</a:t>
            </a:r>
          </a:p>
          <a:p>
            <a:r>
              <a:rPr sz="1600">
                <a:solidFill>
                  <a:srgbClr val="202020"/>
                </a:solidFill>
                <a:latin typeface="Arial"/>
              </a:rPr>
              <a:t>Secrets nunca commitados; sempre secrets.GITHUB_TOKEN ou secrets.&lt;nome&gt;.</a:t>
            </a:r>
          </a:p>
          <a:p>
            <a:r>
              <a:rPr sz="1600">
                <a:solidFill>
                  <a:srgbClr val="202020"/>
                </a:solidFill>
                <a:latin typeface="Arial"/>
              </a:rPr>
              <a:t>Permissions mínimas declaradas por job.</a:t>
            </a:r>
          </a:p>
          <a:p>
            <a:r>
              <a:rPr sz="1600">
                <a:solidFill>
                  <a:srgbClr val="202020"/>
                </a:solidFill>
                <a:latin typeface="Arial"/>
              </a:rPr>
              <a:t>Imagem com duas tags: :latest (humano) e :${{ github.sha }} (rastreável).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721A4F7-E3ED-6870-3FC3-87C3747C9F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8</a:t>
            </a:fld>
            <a:endParaRPr lang="pt-B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5880" y="914400"/>
            <a:ext cx="4114800" cy="3200400"/>
          </a:xfrm>
        </p:spPr>
        <p:txBody>
          <a:bodyPr/>
          <a:lstStyle/>
          <a:p>
            <a:r>
              <a:rPr sz="3400">
                <a:latin typeface="Arial"/>
              </a:rPr>
              <a:t>CI/CD de ML decide:</a:t>
            </a:r>
          </a:p>
          <a:p>
            <a:r>
              <a:rPr sz="3400">
                <a:latin typeface="Arial"/>
              </a:rPr>
              <a:t>promover ou não.</a:t>
            </a:r>
          </a:p>
        </p:txBody>
      </p:sp>
      <p:pic>
        <p:nvPicPr>
          <p:cNvPr id="4" name="Picture 3" descr="gear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0" y="1280160"/>
            <a:ext cx="3017520" cy="3017520"/>
          </a:xfrm>
          <a:prstGeom prst="rect">
            <a:avLst/>
          </a:prstGeom>
        </p:spPr>
      </p:pic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825088D-7895-0C41-5EBC-3B348231DB3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9</a:t>
            </a:fld>
            <a:endParaRPr lang="pt-B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5880" y="411480"/>
            <a:ext cx="7406640" cy="777240"/>
          </a:xfrm>
        </p:spPr>
        <p:txBody>
          <a:bodyPr/>
          <a:lstStyle/>
          <a:p>
            <a:r>
              <a:rPr>
                <a:solidFill>
                  <a:srgbClr val="202020"/>
                </a:solidFill>
                <a:latin typeface="Arial"/>
              </a:rPr>
              <a:t>Cinco estratégias de rollout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1280160"/>
            <a:ext cx="7589520" cy="3223259"/>
          </a:xfrm>
        </p:spPr>
        <p:txBody>
          <a:bodyPr wrap="square"/>
          <a:lstStyle/>
          <a:p>
            <a:r>
              <a:rPr sz="1600">
                <a:solidFill>
                  <a:srgbClr val="202020"/>
                </a:solidFill>
                <a:latin typeface="Arial"/>
              </a:rPr>
              <a:t>Recreate: derruba e sobe; downtime.</a:t>
            </a:r>
          </a:p>
          <a:p>
            <a:r>
              <a:rPr sz="1600">
                <a:solidFill>
                  <a:srgbClr val="202020"/>
                </a:solidFill>
                <a:latin typeface="Arial"/>
              </a:rPr>
              <a:t>Rolling Update: substitui réplicas gradualmente; sem downtime.</a:t>
            </a:r>
          </a:p>
          <a:p>
            <a:r>
              <a:rPr sz="1600">
                <a:solidFill>
                  <a:srgbClr val="202020"/>
                </a:solidFill>
                <a:latin typeface="Arial"/>
              </a:rPr>
              <a:t>Blue/Green: duas frotas idênticas; troca o roteador.</a:t>
            </a:r>
          </a:p>
          <a:p>
            <a:r>
              <a:rPr sz="1600">
                <a:solidFill>
                  <a:srgbClr val="202020"/>
                </a:solidFill>
                <a:latin typeface="Arial"/>
              </a:rPr>
              <a:t>Canary: nova versão recebe X% do tráfego antes do resto.</a:t>
            </a:r>
          </a:p>
          <a:p>
            <a:r>
              <a:rPr sz="1600">
                <a:solidFill>
                  <a:srgbClr val="202020"/>
                </a:solidFill>
                <a:latin typeface="Arial"/>
              </a:rPr>
              <a:t>Shadow: cópia do tráfego para a versão nova; resposta não vai ao usuário.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214C360-3911-57B6-125F-A10FD10325F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10</a:t>
            </a:fld>
            <a:endParaRPr lang="pt-B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5880" y="411480"/>
            <a:ext cx="7406640" cy="777240"/>
          </a:xfrm>
        </p:spPr>
        <p:txBody>
          <a:bodyPr/>
          <a:lstStyle/>
          <a:p>
            <a:r>
              <a:rPr>
                <a:solidFill>
                  <a:srgbClr val="202020"/>
                </a:solidFill>
                <a:latin typeface="Arial"/>
              </a:rPr>
              <a:t>Recreate vs Rolling Update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1280160"/>
            <a:ext cx="3657600" cy="3223259"/>
          </a:xfrm>
        </p:spPr>
        <p:txBody>
          <a:bodyPr wrap="square"/>
          <a:lstStyle/>
          <a:p>
            <a:r>
              <a:rPr sz="1400">
                <a:solidFill>
                  <a:srgbClr val="202020"/>
                </a:solidFill>
                <a:latin typeface="Arial"/>
              </a:rPr>
              <a:t>Recreate:</a:t>
            </a:r>
          </a:p>
          <a:p>
            <a:pPr lvl="1"/>
            <a:r>
              <a:rPr sz="1400">
                <a:solidFill>
                  <a:srgbClr val="202020"/>
                </a:solidFill>
                <a:latin typeface="Arial"/>
              </a:rPr>
              <a:t>downtime aceito.</a:t>
            </a:r>
          </a:p>
          <a:p>
            <a:pPr lvl="1"/>
            <a:r>
              <a:rPr sz="1400">
                <a:solidFill>
                  <a:srgbClr val="202020"/>
                </a:solidFill>
                <a:latin typeface="Arial"/>
              </a:rPr>
              <a:t>risco alto.</a:t>
            </a:r>
          </a:p>
          <a:p>
            <a:pPr lvl="1"/>
            <a:r>
              <a:rPr sz="1400">
                <a:solidFill>
                  <a:srgbClr val="202020"/>
                </a:solidFill>
                <a:latin typeface="Arial"/>
              </a:rPr>
              <a:t>usar apenas em dev.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5074920" y="1280160"/>
            <a:ext cx="3657600" cy="3223259"/>
          </a:xfrm>
        </p:spPr>
        <p:txBody>
          <a:bodyPr wrap="square"/>
          <a:lstStyle/>
          <a:p>
            <a:r>
              <a:rPr sz="1400">
                <a:solidFill>
                  <a:srgbClr val="202020"/>
                </a:solidFill>
                <a:latin typeface="Arial"/>
              </a:rPr>
              <a:t>Rolling Update:</a:t>
            </a:r>
          </a:p>
          <a:p>
            <a:pPr lvl="1"/>
            <a:r>
              <a:rPr sz="1400">
                <a:solidFill>
                  <a:srgbClr val="202020"/>
                </a:solidFill>
                <a:latin typeface="Arial"/>
              </a:rPr>
              <a:t>sem downtime.</a:t>
            </a:r>
          </a:p>
          <a:p>
            <a:pPr lvl="1"/>
            <a:r>
              <a:rPr sz="1400">
                <a:solidFill>
                  <a:srgbClr val="202020"/>
                </a:solidFill>
                <a:latin typeface="Arial"/>
              </a:rPr>
              <a:t>risco médio.</a:t>
            </a:r>
          </a:p>
          <a:p>
            <a:pPr lvl="1"/>
            <a:r>
              <a:rPr sz="1400">
                <a:solidFill>
                  <a:srgbClr val="202020"/>
                </a:solidFill>
                <a:latin typeface="Arial"/>
              </a:rPr>
              <a:t>padrão em Kubernetes e ECS.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F2B2EA8-58CE-5E73-9826-2CA06E253D6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11</a:t>
            </a:fld>
            <a:endParaRPr lang="pt-B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5880" y="411480"/>
            <a:ext cx="7406640" cy="777240"/>
          </a:xfrm>
        </p:spPr>
        <p:txBody>
          <a:bodyPr/>
          <a:lstStyle/>
          <a:p>
            <a:r>
              <a:rPr>
                <a:solidFill>
                  <a:srgbClr val="202020"/>
                </a:solidFill>
                <a:latin typeface="Arial"/>
              </a:rPr>
              <a:t>Rolling Update em detalhe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1280160"/>
            <a:ext cx="5299364" cy="3223259"/>
          </a:xfrm>
        </p:spPr>
        <p:txBody>
          <a:bodyPr wrap="square">
            <a:normAutofit/>
          </a:bodyPr>
          <a:lstStyle/>
          <a:p>
            <a:r>
              <a:rPr sz="1600" dirty="0" err="1">
                <a:solidFill>
                  <a:srgbClr val="202020"/>
                </a:solidFill>
                <a:latin typeface="Arial"/>
              </a:rPr>
              <a:t>Suponha</a:t>
            </a:r>
            <a:r>
              <a:rPr sz="1600" dirty="0">
                <a:solidFill>
                  <a:srgbClr val="202020"/>
                </a:solidFill>
                <a:latin typeface="Arial"/>
              </a:rPr>
              <a:t> 4 </a:t>
            </a:r>
            <a:r>
              <a:rPr sz="1600" dirty="0" err="1">
                <a:solidFill>
                  <a:srgbClr val="202020"/>
                </a:solidFill>
                <a:latin typeface="Arial"/>
              </a:rPr>
              <a:t>réplicas</a:t>
            </a:r>
            <a:r>
              <a:rPr sz="1600" dirty="0">
                <a:solidFill>
                  <a:srgbClr val="202020"/>
                </a:solidFill>
                <a:latin typeface="Arial"/>
              </a:rPr>
              <a:t> v1 e deploy de v2.</a:t>
            </a:r>
          </a:p>
          <a:p>
            <a:r>
              <a:rPr sz="1600" dirty="0" err="1">
                <a:solidFill>
                  <a:srgbClr val="202020"/>
                </a:solidFill>
                <a:latin typeface="Arial"/>
              </a:rPr>
              <a:t>Orquestrador</a:t>
            </a:r>
            <a:r>
              <a:rPr sz="1600" dirty="0">
                <a:solidFill>
                  <a:srgbClr val="20202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202020"/>
                </a:solidFill>
                <a:latin typeface="Arial"/>
              </a:rPr>
              <a:t>sobe</a:t>
            </a:r>
            <a:r>
              <a:rPr sz="1600" dirty="0">
                <a:solidFill>
                  <a:srgbClr val="202020"/>
                </a:solidFill>
                <a:latin typeface="Arial"/>
              </a:rPr>
              <a:t> 1 </a:t>
            </a:r>
            <a:r>
              <a:rPr sz="1600" dirty="0" err="1">
                <a:solidFill>
                  <a:srgbClr val="202020"/>
                </a:solidFill>
                <a:latin typeface="Arial"/>
              </a:rPr>
              <a:t>réplica</a:t>
            </a:r>
            <a:r>
              <a:rPr sz="1600" dirty="0">
                <a:solidFill>
                  <a:srgbClr val="202020"/>
                </a:solidFill>
                <a:latin typeface="Arial"/>
              </a:rPr>
              <a:t> v2 e </a:t>
            </a:r>
            <a:r>
              <a:rPr sz="1600" dirty="0" err="1">
                <a:solidFill>
                  <a:srgbClr val="202020"/>
                </a:solidFill>
                <a:latin typeface="Arial"/>
              </a:rPr>
              <a:t>aguarda</a:t>
            </a:r>
            <a:r>
              <a:rPr sz="1600" dirty="0">
                <a:solidFill>
                  <a:srgbClr val="202020"/>
                </a:solidFill>
                <a:latin typeface="Arial"/>
              </a:rPr>
              <a:t> readiness probe.</a:t>
            </a:r>
          </a:p>
          <a:p>
            <a:r>
              <a:rPr sz="1600" dirty="0" err="1">
                <a:solidFill>
                  <a:srgbClr val="202020"/>
                </a:solidFill>
                <a:latin typeface="Arial"/>
              </a:rPr>
              <a:t>Derruba</a:t>
            </a:r>
            <a:r>
              <a:rPr sz="1600" dirty="0">
                <a:solidFill>
                  <a:srgbClr val="202020"/>
                </a:solidFill>
                <a:latin typeface="Arial"/>
              </a:rPr>
              <a:t> 1 </a:t>
            </a:r>
            <a:r>
              <a:rPr sz="1600" dirty="0" err="1">
                <a:solidFill>
                  <a:srgbClr val="202020"/>
                </a:solidFill>
                <a:latin typeface="Arial"/>
              </a:rPr>
              <a:t>réplica</a:t>
            </a:r>
            <a:r>
              <a:rPr sz="1600" dirty="0">
                <a:solidFill>
                  <a:srgbClr val="202020"/>
                </a:solidFill>
                <a:latin typeface="Arial"/>
              </a:rPr>
              <a:t> v1; </a:t>
            </a:r>
            <a:r>
              <a:rPr sz="1600" dirty="0" err="1">
                <a:solidFill>
                  <a:srgbClr val="202020"/>
                </a:solidFill>
                <a:latin typeface="Arial"/>
              </a:rPr>
              <a:t>repete</a:t>
            </a:r>
            <a:r>
              <a:rPr sz="1600" dirty="0">
                <a:solidFill>
                  <a:srgbClr val="20202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202020"/>
                </a:solidFill>
                <a:latin typeface="Arial"/>
              </a:rPr>
              <a:t>até</a:t>
            </a:r>
            <a:r>
              <a:rPr sz="1600" dirty="0">
                <a:solidFill>
                  <a:srgbClr val="20202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202020"/>
                </a:solidFill>
                <a:latin typeface="Arial"/>
              </a:rPr>
              <a:t>completar</a:t>
            </a:r>
            <a:r>
              <a:rPr sz="1600" dirty="0">
                <a:solidFill>
                  <a:srgbClr val="202020"/>
                </a:solidFill>
                <a:latin typeface="Arial"/>
              </a:rPr>
              <a:t> 4.</a:t>
            </a:r>
          </a:p>
          <a:p>
            <a:r>
              <a:rPr sz="1600" dirty="0" err="1">
                <a:solidFill>
                  <a:srgbClr val="202020"/>
                </a:solidFill>
                <a:latin typeface="Arial"/>
              </a:rPr>
              <a:t>maxSurge</a:t>
            </a:r>
            <a:r>
              <a:rPr sz="1600" dirty="0">
                <a:solidFill>
                  <a:srgbClr val="20202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202020"/>
                </a:solidFill>
                <a:latin typeface="Arial"/>
              </a:rPr>
              <a:t>controla</a:t>
            </a:r>
            <a:r>
              <a:rPr sz="1600" dirty="0">
                <a:solidFill>
                  <a:srgbClr val="20202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202020"/>
                </a:solidFill>
                <a:latin typeface="Arial"/>
              </a:rPr>
              <a:t>quantas</a:t>
            </a:r>
            <a:r>
              <a:rPr sz="1600" dirty="0">
                <a:solidFill>
                  <a:srgbClr val="202020"/>
                </a:solidFill>
                <a:latin typeface="Arial"/>
              </a:rPr>
              <a:t> a </a:t>
            </a:r>
            <a:r>
              <a:rPr sz="1600" dirty="0" err="1">
                <a:solidFill>
                  <a:srgbClr val="202020"/>
                </a:solidFill>
                <a:latin typeface="Arial"/>
              </a:rPr>
              <a:t>mais</a:t>
            </a:r>
            <a:r>
              <a:rPr sz="1600" dirty="0">
                <a:solidFill>
                  <a:srgbClr val="20202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202020"/>
                </a:solidFill>
                <a:latin typeface="Arial"/>
              </a:rPr>
              <a:t>podem</a:t>
            </a:r>
            <a:r>
              <a:rPr sz="1600" dirty="0">
                <a:solidFill>
                  <a:srgbClr val="20202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202020"/>
                </a:solidFill>
                <a:latin typeface="Arial"/>
              </a:rPr>
              <a:t>coexistir</a:t>
            </a:r>
            <a:r>
              <a:rPr sz="1600" dirty="0">
                <a:solidFill>
                  <a:srgbClr val="202020"/>
                </a:solidFill>
                <a:latin typeface="Arial"/>
              </a:rPr>
              <a:t>.</a:t>
            </a:r>
          </a:p>
          <a:p>
            <a:r>
              <a:rPr sz="1600" dirty="0" err="1">
                <a:solidFill>
                  <a:srgbClr val="202020"/>
                </a:solidFill>
                <a:latin typeface="Arial"/>
              </a:rPr>
              <a:t>maxUnavailable</a:t>
            </a:r>
            <a:r>
              <a:rPr sz="1600" dirty="0">
                <a:solidFill>
                  <a:srgbClr val="20202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202020"/>
                </a:solidFill>
                <a:latin typeface="Arial"/>
              </a:rPr>
              <a:t>controla</a:t>
            </a:r>
            <a:r>
              <a:rPr sz="1600" dirty="0">
                <a:solidFill>
                  <a:srgbClr val="20202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202020"/>
                </a:solidFill>
                <a:latin typeface="Arial"/>
              </a:rPr>
              <a:t>quantas</a:t>
            </a:r>
            <a:r>
              <a:rPr sz="1600" dirty="0">
                <a:solidFill>
                  <a:srgbClr val="20202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202020"/>
                </a:solidFill>
                <a:latin typeface="Arial"/>
              </a:rPr>
              <a:t>podem</a:t>
            </a:r>
            <a:r>
              <a:rPr sz="1600" dirty="0">
                <a:solidFill>
                  <a:srgbClr val="202020"/>
                </a:solidFill>
                <a:latin typeface="Arial"/>
              </a:rPr>
              <a:t> </a:t>
            </a:r>
            <a:r>
              <a:rPr sz="1600" dirty="0" err="1">
                <a:solidFill>
                  <a:srgbClr val="202020"/>
                </a:solidFill>
                <a:latin typeface="Arial"/>
              </a:rPr>
              <a:t>estar</a:t>
            </a:r>
            <a:r>
              <a:rPr sz="1600" dirty="0">
                <a:solidFill>
                  <a:srgbClr val="202020"/>
                </a:solidFill>
                <a:latin typeface="Arial"/>
              </a:rPr>
              <a:t> fora.</a:t>
            </a:r>
          </a:p>
          <a:p>
            <a:r>
              <a:rPr sz="1600" dirty="0">
                <a:solidFill>
                  <a:srgbClr val="202020"/>
                </a:solidFill>
                <a:latin typeface="Arial"/>
              </a:rPr>
              <a:t>Falha de readiness pausa rollout </a:t>
            </a:r>
            <a:r>
              <a:rPr sz="1600" dirty="0" err="1">
                <a:solidFill>
                  <a:srgbClr val="202020"/>
                </a:solidFill>
                <a:latin typeface="Arial"/>
              </a:rPr>
              <a:t>automaticamente</a:t>
            </a:r>
            <a:r>
              <a:rPr sz="1600" dirty="0">
                <a:solidFill>
                  <a:srgbClr val="202020"/>
                </a:solidFill>
                <a:latin typeface="Arial"/>
              </a:rPr>
              <a:t>.</a:t>
            </a:r>
          </a:p>
        </p:txBody>
      </p:sp>
      <p:pic>
        <p:nvPicPr>
          <p:cNvPr id="5" name="Picture 4" descr="container_por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462" y="1507721"/>
            <a:ext cx="2128058" cy="2128058"/>
          </a:xfrm>
          <a:prstGeom prst="rect">
            <a:avLst/>
          </a:prstGeom>
        </p:spPr>
      </p:pic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257E6DF-0D97-5D34-10B1-36D73F322E8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12</a:t>
            </a:fld>
            <a:endParaRPr lang="pt-B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5880" y="914400"/>
            <a:ext cx="4114800" cy="3200400"/>
          </a:xfrm>
        </p:spPr>
        <p:txBody>
          <a:bodyPr/>
          <a:lstStyle/>
          <a:p>
            <a:r>
              <a:rPr sz="2800">
                <a:latin typeface="Arial"/>
              </a:rPr>
              <a:t>Shadow deployment:</a:t>
            </a:r>
          </a:p>
          <a:p>
            <a:r>
              <a:rPr sz="2800">
                <a:latin typeface="Arial"/>
              </a:rPr>
              <a:t>tráfego real, risco zero.</a:t>
            </a:r>
          </a:p>
        </p:txBody>
      </p:sp>
      <p:pic>
        <p:nvPicPr>
          <p:cNvPr id="4" name="Picture 3" descr="silhouet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0" y="1280160"/>
            <a:ext cx="3017520" cy="3017520"/>
          </a:xfrm>
          <a:prstGeom prst="rect">
            <a:avLst/>
          </a:prstGeom>
        </p:spPr>
      </p:pic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A87193D-7DF4-FA12-A40B-CCA0BD1D027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13</a:t>
            </a:fld>
            <a:endParaRPr lang="pt-B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5880" y="411480"/>
            <a:ext cx="7406640" cy="777240"/>
          </a:xfrm>
        </p:spPr>
        <p:txBody>
          <a:bodyPr/>
          <a:lstStyle/>
          <a:p>
            <a:r>
              <a:rPr>
                <a:solidFill>
                  <a:srgbClr val="202020"/>
                </a:solidFill>
                <a:latin typeface="Arial"/>
              </a:rPr>
              <a:t>Shadow deployment para ML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1280160"/>
            <a:ext cx="7589520" cy="3223259"/>
          </a:xfrm>
        </p:spPr>
        <p:txBody>
          <a:bodyPr wrap="square"/>
          <a:lstStyle/>
          <a:p>
            <a:r>
              <a:rPr sz="1600">
                <a:solidFill>
                  <a:srgbClr val="202020"/>
                </a:solidFill>
                <a:latin typeface="Arial"/>
              </a:rPr>
              <a:t>Versão nova recebe cópia do tráfego de produção.</a:t>
            </a:r>
          </a:p>
          <a:p>
            <a:r>
              <a:rPr sz="1600">
                <a:solidFill>
                  <a:srgbClr val="202020"/>
                </a:solidFill>
                <a:latin typeface="Arial"/>
              </a:rPr>
              <a:t>Resposta da versão nova NÃO chega ao usuário final.</a:t>
            </a:r>
          </a:p>
          <a:p>
            <a:r>
              <a:rPr sz="1600">
                <a:solidFill>
                  <a:srgbClr val="202020"/>
                </a:solidFill>
                <a:latin typeface="Arial"/>
              </a:rPr>
              <a:t>Permite comparar predições novas e antigas em dados reais.</a:t>
            </a:r>
          </a:p>
          <a:p>
            <a:r>
              <a:rPr sz="1600">
                <a:solidFill>
                  <a:srgbClr val="202020"/>
                </a:solidFill>
                <a:latin typeface="Arial"/>
              </a:rPr>
              <a:t>Gera dataset valioso antes de promover a champion.</a:t>
            </a:r>
          </a:p>
          <a:p>
            <a:r>
              <a:rPr sz="1600">
                <a:solidFill>
                  <a:srgbClr val="202020"/>
                </a:solidFill>
                <a:latin typeface="Arial"/>
              </a:rPr>
              <a:t>Risco zero para a experiência do usuário.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4999AC2-7070-43B5-B48D-2C13FF06F2C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14</a:t>
            </a:fld>
            <a:endParaRPr lang="pt-B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5880" y="2011680"/>
            <a:ext cx="7406640" cy="1097280"/>
          </a:xfrm>
        </p:spPr>
        <p:txBody>
          <a:bodyPr/>
          <a:lstStyle/>
          <a:p>
            <a:r>
              <a:rPr>
                <a:solidFill>
                  <a:srgbClr val="202020"/>
                </a:solidFill>
                <a:latin typeface="Arial"/>
              </a:rPr>
              <a:t>Unidade 4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242DEA3-BC9F-CBAA-9B8A-8BB41550466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15</a:t>
            </a:fld>
            <a:endParaRPr lang="pt-B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5880" y="914400"/>
            <a:ext cx="4114800" cy="3200400"/>
          </a:xfrm>
        </p:spPr>
        <p:txBody>
          <a:bodyPr/>
          <a:lstStyle/>
          <a:p>
            <a:r>
              <a:rPr sz="3600">
                <a:latin typeface="Arial"/>
              </a:rPr>
              <a:t>Software falha alto.</a:t>
            </a:r>
          </a:p>
          <a:p>
            <a:r>
              <a:rPr sz="3600">
                <a:latin typeface="Arial"/>
              </a:rPr>
              <a:t>ML falha baixo.</a:t>
            </a:r>
          </a:p>
        </p:txBody>
      </p:sp>
      <p:pic>
        <p:nvPicPr>
          <p:cNvPr id="4" name="Picture 3" descr="dashboa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0" y="1280160"/>
            <a:ext cx="3017520" cy="3017520"/>
          </a:xfrm>
          <a:prstGeom prst="rect">
            <a:avLst/>
          </a:prstGeom>
        </p:spPr>
      </p:pic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5AC41F1-47CB-29C1-D812-530DB7853DE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16</a:t>
            </a:fld>
            <a:endParaRPr lang="pt-B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5880" y="411480"/>
            <a:ext cx="7406640" cy="777240"/>
          </a:xfrm>
        </p:spPr>
        <p:txBody>
          <a:bodyPr/>
          <a:lstStyle/>
          <a:p>
            <a:r>
              <a:rPr>
                <a:solidFill>
                  <a:srgbClr val="202020"/>
                </a:solidFill>
                <a:latin typeface="Arial"/>
              </a:rPr>
              <a:t>Por que monitorar ML é diferente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1280160"/>
            <a:ext cx="7589520" cy="3223259"/>
          </a:xfrm>
        </p:spPr>
        <p:txBody>
          <a:bodyPr wrap="square"/>
          <a:lstStyle/>
          <a:p>
            <a:r>
              <a:rPr sz="1600">
                <a:solidFill>
                  <a:srgbClr val="202020"/>
                </a:solidFill>
                <a:latin typeface="Arial"/>
              </a:rPr>
              <a:t>Software tradicional: exception, 500, latência. APM clássico detecta.</a:t>
            </a:r>
          </a:p>
          <a:p>
            <a:r>
              <a:rPr sz="1600">
                <a:solidFill>
                  <a:srgbClr val="202020"/>
                </a:solidFill>
                <a:latin typeface="Arial"/>
              </a:rPr>
              <a:t>ML: continua respondendo 200 OK enquanto a acurácia degrada.</a:t>
            </a:r>
          </a:p>
          <a:p>
            <a:r>
              <a:rPr sz="1600">
                <a:solidFill>
                  <a:srgbClr val="202020"/>
                </a:solidFill>
                <a:latin typeface="Arial"/>
              </a:rPr>
              <a:t>Causa típica: o mundo mudou (sazonalidade, regulação, novos perfis).</a:t>
            </a:r>
          </a:p>
          <a:p>
            <a:r>
              <a:rPr sz="1600">
                <a:solidFill>
                  <a:srgbClr val="202020"/>
                </a:solidFill>
                <a:latin typeface="Arial"/>
              </a:rPr>
              <a:t>Sem monitoramento ativo, ninguém percebe até o KPI de negócio cair.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4DD05E1-DCA7-99FD-59ED-C69A819F54E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17</a:t>
            </a:fld>
            <a:endParaRPr lang="pt-B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5880" y="411480"/>
            <a:ext cx="7406640" cy="777240"/>
          </a:xfrm>
        </p:spPr>
        <p:txBody>
          <a:bodyPr/>
          <a:lstStyle/>
          <a:p>
            <a:r>
              <a:rPr>
                <a:solidFill>
                  <a:srgbClr val="202020"/>
                </a:solidFill>
                <a:latin typeface="Arial"/>
              </a:rPr>
              <a:t>Três camadas de métricas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1280160"/>
            <a:ext cx="7589520" cy="3223259"/>
          </a:xfrm>
        </p:spPr>
        <p:txBody>
          <a:bodyPr wrap="square"/>
          <a:lstStyle/>
          <a:p>
            <a:r>
              <a:rPr sz="1600">
                <a:solidFill>
                  <a:srgbClr val="202020"/>
                </a:solidFill>
                <a:latin typeface="Arial"/>
              </a:rPr>
              <a:t>Sistema: CPU, memória, latência p95, taxa de erro HTTP.</a:t>
            </a:r>
          </a:p>
          <a:p>
            <a:r>
              <a:rPr sz="1600">
                <a:solidFill>
                  <a:srgbClr val="202020"/>
                </a:solidFill>
                <a:latin typeface="Arial"/>
              </a:rPr>
              <a:t>Modelo/dados: distribuição de features, distribuição de predições, drift.</a:t>
            </a:r>
          </a:p>
          <a:p>
            <a:r>
              <a:rPr sz="1600">
                <a:solidFill>
                  <a:srgbClr val="202020"/>
                </a:solidFill>
                <a:latin typeface="Arial"/>
              </a:rPr>
              <a:t>Negócio: conversão, receita por predição, NPS.</a:t>
            </a:r>
          </a:p>
          <a:p>
            <a:r>
              <a:rPr sz="1600">
                <a:solidFill>
                  <a:srgbClr val="202020"/>
                </a:solidFill>
                <a:latin typeface="Arial"/>
              </a:rPr>
              <a:t>A camada de negócio é a métrica final que importa.</a:t>
            </a:r>
          </a:p>
          <a:p>
            <a:r>
              <a:rPr sz="1600">
                <a:solidFill>
                  <a:srgbClr val="202020"/>
                </a:solidFill>
                <a:latin typeface="Arial"/>
              </a:rPr>
              <a:t>As outras existem para protegê-la.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9FAAC87-3842-418B-6153-039AF63A87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18</a:t>
            </a:fld>
            <a:endParaRPr lang="pt-B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5880" y="411480"/>
            <a:ext cx="7406640" cy="777240"/>
          </a:xfrm>
        </p:spPr>
        <p:txBody>
          <a:bodyPr/>
          <a:lstStyle/>
          <a:p>
            <a:r>
              <a:rPr>
                <a:solidFill>
                  <a:srgbClr val="202020"/>
                </a:solidFill>
                <a:latin typeface="Arial"/>
              </a:rPr>
              <a:t>Data drift vs Concept drift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1280160"/>
            <a:ext cx="3657600" cy="3223259"/>
          </a:xfrm>
        </p:spPr>
        <p:txBody>
          <a:bodyPr wrap="square"/>
          <a:lstStyle/>
          <a:p>
            <a:r>
              <a:rPr sz="1400">
                <a:solidFill>
                  <a:srgbClr val="202020"/>
                </a:solidFill>
                <a:latin typeface="Arial"/>
              </a:rPr>
              <a:t>Data drift (covariate shift):</a:t>
            </a:r>
          </a:p>
          <a:p>
            <a:pPr lvl="1"/>
            <a:r>
              <a:rPr sz="1400">
                <a:solidFill>
                  <a:srgbClr val="202020"/>
                </a:solidFill>
                <a:latin typeface="Arial"/>
              </a:rPr>
              <a:t>muda P(X).</a:t>
            </a:r>
          </a:p>
          <a:p>
            <a:pPr lvl="1"/>
            <a:r>
              <a:rPr sz="1400">
                <a:solidFill>
                  <a:srgbClr val="202020"/>
                </a:solidFill>
                <a:latin typeface="Arial"/>
              </a:rPr>
              <a:t>Distribuição das entradas se desloca.</a:t>
            </a:r>
          </a:p>
          <a:p>
            <a:pPr lvl="1"/>
            <a:r>
              <a:rPr sz="1400">
                <a:solidFill>
                  <a:srgbClr val="202020"/>
                </a:solidFill>
                <a:latin typeface="Arial"/>
              </a:rPr>
              <a:t>Ex.: pandemia muda mobilidade urbana.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5074920" y="1280160"/>
            <a:ext cx="3657600" cy="3223259"/>
          </a:xfrm>
        </p:spPr>
        <p:txBody>
          <a:bodyPr wrap="square"/>
          <a:lstStyle/>
          <a:p>
            <a:r>
              <a:rPr sz="1400">
                <a:solidFill>
                  <a:srgbClr val="202020"/>
                </a:solidFill>
                <a:latin typeface="Arial"/>
              </a:rPr>
              <a:t>Concept drift:</a:t>
            </a:r>
          </a:p>
          <a:p>
            <a:pPr lvl="1"/>
            <a:r>
              <a:rPr sz="1400">
                <a:solidFill>
                  <a:srgbClr val="202020"/>
                </a:solidFill>
                <a:latin typeface="Arial"/>
              </a:rPr>
              <a:t>muda P(Y|X).</a:t>
            </a:r>
          </a:p>
          <a:p>
            <a:pPr lvl="1"/>
            <a:r>
              <a:rPr sz="1400">
                <a:solidFill>
                  <a:srgbClr val="202020"/>
                </a:solidFill>
                <a:latin typeface="Arial"/>
              </a:rPr>
              <a:t>A relação entrada-saída mudou.</a:t>
            </a:r>
          </a:p>
          <a:p>
            <a:pPr lvl="1"/>
            <a:r>
              <a:rPr sz="1400">
                <a:solidFill>
                  <a:srgbClr val="202020"/>
                </a:solidFill>
                <a:latin typeface="Arial"/>
              </a:rPr>
              <a:t>Ex.: comportamento de compra após inflação.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548DCBC-1810-424F-4A56-4D8AE8125C3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19</a:t>
            </a:fld>
            <a:endParaRPr lang="pt-B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5880" y="411480"/>
            <a:ext cx="7406640" cy="777240"/>
          </a:xfrm>
        </p:spPr>
        <p:txBody>
          <a:bodyPr/>
          <a:lstStyle/>
          <a:p>
            <a:r>
              <a:rPr>
                <a:solidFill>
                  <a:srgbClr val="202020"/>
                </a:solidFill>
                <a:latin typeface="Arial"/>
              </a:rPr>
              <a:t>Testes estatísticos para drift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1280160"/>
            <a:ext cx="7589520" cy="3223259"/>
          </a:xfrm>
        </p:spPr>
        <p:txBody>
          <a:bodyPr wrap="square"/>
          <a:lstStyle/>
          <a:p>
            <a:r>
              <a:rPr sz="1600">
                <a:solidFill>
                  <a:srgbClr val="202020"/>
                </a:solidFill>
                <a:latin typeface="Arial"/>
              </a:rPr>
              <a:t>Variáveis numéricas:</a:t>
            </a:r>
          </a:p>
          <a:p>
            <a:pPr lvl="1"/>
            <a:r>
              <a:rPr sz="1600">
                <a:solidFill>
                  <a:srgbClr val="202020"/>
                </a:solidFill>
                <a:latin typeface="Arial"/>
              </a:rPr>
              <a:t>Kolmogorov-Smirnov (KS).</a:t>
            </a:r>
          </a:p>
          <a:p>
            <a:pPr lvl="1"/>
            <a:r>
              <a:rPr sz="1600">
                <a:solidFill>
                  <a:srgbClr val="202020"/>
                </a:solidFill>
                <a:latin typeface="Arial"/>
              </a:rPr>
              <a:t>Wasserstein distance.</a:t>
            </a:r>
          </a:p>
          <a:p>
            <a:pPr lvl="1"/>
            <a:r>
              <a:rPr sz="1600">
                <a:solidFill>
                  <a:srgbClr val="202020"/>
                </a:solidFill>
                <a:latin typeface="Arial"/>
              </a:rPr>
              <a:t>Population Stability Index (PSI).</a:t>
            </a:r>
          </a:p>
          <a:p>
            <a:r>
              <a:rPr sz="1600">
                <a:solidFill>
                  <a:srgbClr val="202020"/>
                </a:solidFill>
                <a:latin typeface="Arial"/>
              </a:rPr>
              <a:t>Variáveis categóricas:</a:t>
            </a:r>
          </a:p>
          <a:p>
            <a:pPr lvl="1"/>
            <a:r>
              <a:rPr sz="1600">
                <a:solidFill>
                  <a:srgbClr val="202020"/>
                </a:solidFill>
                <a:latin typeface="Arial"/>
              </a:rPr>
              <a:t>Chi-squared.</a:t>
            </a:r>
          </a:p>
          <a:p>
            <a:pPr lvl="1"/>
            <a:r>
              <a:rPr sz="1600">
                <a:solidFill>
                  <a:srgbClr val="202020"/>
                </a:solidFill>
                <a:latin typeface="Arial"/>
              </a:rPr>
              <a:t>Jensen-Shannon divergence.</a:t>
            </a:r>
          </a:p>
          <a:p>
            <a:r>
              <a:rPr sz="1600">
                <a:solidFill>
                  <a:srgbClr val="202020"/>
                </a:solidFill>
                <a:latin typeface="Arial"/>
              </a:rPr>
              <a:t>Janela de referência (treino) versus janela atual (últimos N dias).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09A2A9D-AACD-072B-D5FC-2C0098CE3C2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20</a:t>
            </a:fld>
            <a:endParaRPr lang="pt-B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5880" y="411480"/>
            <a:ext cx="7406640" cy="777240"/>
          </a:xfrm>
        </p:spPr>
        <p:txBody>
          <a:bodyPr/>
          <a:lstStyle/>
          <a:p>
            <a:r>
              <a:rPr>
                <a:solidFill>
                  <a:srgbClr val="202020"/>
                </a:solidFill>
                <a:latin typeface="Arial"/>
              </a:rPr>
              <a:t>Evidently AI em uma chamada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280160"/>
            <a:ext cx="740664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1">
                <a:solidFill>
                  <a:srgbClr val="1F1F1F"/>
                </a:solidFill>
                <a:latin typeface="Arial"/>
              </a:rPr>
              <a:t>drift_report.py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25880" y="1810511"/>
            <a:ext cx="7406640" cy="2394343"/>
          </a:xfrm>
          <a:prstGeom prst="round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bIns="73152" rtlCol="0" anchor="t"/>
          <a:lstStyle/>
          <a:p>
            <a:pPr algn="l"/>
            <a:r>
              <a:rPr sz="1400" dirty="0">
                <a:solidFill>
                  <a:srgbClr val="222222"/>
                </a:solidFill>
                <a:latin typeface="Consolas"/>
              </a:rPr>
              <a:t>from evidently import Report</a:t>
            </a:r>
          </a:p>
          <a:p>
            <a:pPr algn="l"/>
            <a:r>
              <a:rPr sz="1400" dirty="0">
                <a:solidFill>
                  <a:srgbClr val="222222"/>
                </a:solidFill>
                <a:latin typeface="Consolas"/>
              </a:rPr>
              <a:t>from </a:t>
            </a:r>
            <a:r>
              <a:rPr sz="1400" dirty="0" err="1">
                <a:solidFill>
                  <a:srgbClr val="222222"/>
                </a:solidFill>
                <a:latin typeface="Consolas"/>
              </a:rPr>
              <a:t>evidently.presets</a:t>
            </a:r>
            <a:r>
              <a:rPr sz="1400" dirty="0">
                <a:solidFill>
                  <a:srgbClr val="222222"/>
                </a:solidFill>
                <a:latin typeface="Consolas"/>
              </a:rPr>
              <a:t> import </a:t>
            </a:r>
            <a:r>
              <a:rPr sz="1400" dirty="0" err="1">
                <a:solidFill>
                  <a:srgbClr val="222222"/>
                </a:solidFill>
                <a:latin typeface="Consolas"/>
              </a:rPr>
              <a:t>DataDriftPreset</a:t>
            </a:r>
            <a:endParaRPr sz="1400" dirty="0">
              <a:solidFill>
                <a:srgbClr val="222222"/>
              </a:solidFill>
              <a:latin typeface="Consolas"/>
            </a:endParaRPr>
          </a:p>
          <a:p>
            <a:pPr algn="l"/>
            <a:r>
              <a:rPr sz="1400" dirty="0">
                <a:solidFill>
                  <a:srgbClr val="222222"/>
                </a:solidFill>
                <a:latin typeface="Consolas"/>
              </a:rPr>
              <a:t> </a:t>
            </a:r>
          </a:p>
          <a:p>
            <a:pPr algn="l"/>
            <a:r>
              <a:rPr sz="1400" dirty="0">
                <a:solidFill>
                  <a:srgbClr val="222222"/>
                </a:solidFill>
                <a:latin typeface="Consolas"/>
              </a:rPr>
              <a:t>report = Report(metrics=[</a:t>
            </a:r>
            <a:r>
              <a:rPr sz="1400" dirty="0" err="1">
                <a:solidFill>
                  <a:srgbClr val="222222"/>
                </a:solidFill>
                <a:latin typeface="Consolas"/>
              </a:rPr>
              <a:t>DataDriftPreset</a:t>
            </a:r>
            <a:r>
              <a:rPr sz="1400" dirty="0">
                <a:solidFill>
                  <a:srgbClr val="222222"/>
                </a:solidFill>
                <a:latin typeface="Consolas"/>
              </a:rPr>
              <a:t>()])</a:t>
            </a:r>
          </a:p>
          <a:p>
            <a:pPr algn="l"/>
            <a:r>
              <a:rPr sz="1400" dirty="0">
                <a:solidFill>
                  <a:srgbClr val="222222"/>
                </a:solidFill>
                <a:latin typeface="Consolas"/>
              </a:rPr>
              <a:t>snapshot = </a:t>
            </a:r>
            <a:r>
              <a:rPr sz="1400" dirty="0" err="1">
                <a:solidFill>
                  <a:srgbClr val="222222"/>
                </a:solidFill>
                <a:latin typeface="Consolas"/>
              </a:rPr>
              <a:t>report.run</a:t>
            </a:r>
            <a:r>
              <a:rPr sz="1400" dirty="0">
                <a:solidFill>
                  <a:srgbClr val="222222"/>
                </a:solidFill>
                <a:latin typeface="Consolas"/>
              </a:rPr>
              <a:t>(</a:t>
            </a:r>
          </a:p>
          <a:p>
            <a:pPr algn="l"/>
            <a:r>
              <a:rPr sz="1400" dirty="0">
                <a:solidFill>
                  <a:srgbClr val="222222"/>
                </a:solidFill>
                <a:latin typeface="Consolas"/>
              </a:rPr>
              <a:t>    </a:t>
            </a:r>
            <a:r>
              <a:rPr sz="1400" dirty="0" err="1">
                <a:solidFill>
                  <a:srgbClr val="222222"/>
                </a:solidFill>
                <a:latin typeface="Consolas"/>
              </a:rPr>
              <a:t>reference_data</a:t>
            </a:r>
            <a:r>
              <a:rPr sz="1400" dirty="0">
                <a:solidFill>
                  <a:srgbClr val="222222"/>
                </a:solidFill>
                <a:latin typeface="Consolas"/>
              </a:rPr>
              <a:t>=</a:t>
            </a:r>
            <a:r>
              <a:rPr sz="1400" dirty="0" err="1">
                <a:solidFill>
                  <a:srgbClr val="222222"/>
                </a:solidFill>
                <a:latin typeface="Consolas"/>
              </a:rPr>
              <a:t>df_train</a:t>
            </a:r>
            <a:r>
              <a:rPr sz="1400" dirty="0">
                <a:solidFill>
                  <a:srgbClr val="222222"/>
                </a:solidFill>
                <a:latin typeface="Consolas"/>
              </a:rPr>
              <a:t>,</a:t>
            </a:r>
          </a:p>
          <a:p>
            <a:pPr algn="l"/>
            <a:r>
              <a:rPr sz="1400" dirty="0">
                <a:solidFill>
                  <a:srgbClr val="222222"/>
                </a:solidFill>
                <a:latin typeface="Consolas"/>
              </a:rPr>
              <a:t>    </a:t>
            </a:r>
            <a:r>
              <a:rPr sz="1400" dirty="0" err="1">
                <a:solidFill>
                  <a:srgbClr val="222222"/>
                </a:solidFill>
                <a:latin typeface="Consolas"/>
              </a:rPr>
              <a:t>current_data</a:t>
            </a:r>
            <a:r>
              <a:rPr sz="1400" dirty="0">
                <a:solidFill>
                  <a:srgbClr val="222222"/>
                </a:solidFill>
                <a:latin typeface="Consolas"/>
              </a:rPr>
              <a:t>=df_prod_last_7d,</a:t>
            </a:r>
          </a:p>
          <a:p>
            <a:pPr algn="l"/>
            <a:r>
              <a:rPr sz="1400" dirty="0">
                <a:solidFill>
                  <a:srgbClr val="222222"/>
                </a:solidFill>
                <a:latin typeface="Consolas"/>
              </a:rPr>
              <a:t>)</a:t>
            </a:r>
          </a:p>
          <a:p>
            <a:pPr algn="l"/>
            <a:r>
              <a:rPr sz="1400" dirty="0" err="1">
                <a:solidFill>
                  <a:srgbClr val="222222"/>
                </a:solidFill>
                <a:latin typeface="Consolas"/>
              </a:rPr>
              <a:t>snapshot.save_html</a:t>
            </a:r>
            <a:r>
              <a:rPr sz="1400" dirty="0">
                <a:solidFill>
                  <a:srgbClr val="222222"/>
                </a:solidFill>
                <a:latin typeface="Consolas"/>
              </a:rPr>
              <a:t>("drift_report.html")</a:t>
            </a: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00EC0233-6E5D-E7BF-B4F7-9657CCE3637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21</a:t>
            </a:fld>
            <a:endParaRPr lang="pt-B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5880" y="411480"/>
            <a:ext cx="7406640" cy="777240"/>
          </a:xfrm>
        </p:spPr>
        <p:txBody>
          <a:bodyPr/>
          <a:lstStyle/>
          <a:p>
            <a:r>
              <a:rPr>
                <a:solidFill>
                  <a:srgbClr val="202020"/>
                </a:solidFill>
                <a:latin typeface="Arial"/>
              </a:rPr>
              <a:t>Log de predições: o que registrar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1280160"/>
            <a:ext cx="7589520" cy="3223259"/>
          </a:xfrm>
        </p:spPr>
        <p:txBody>
          <a:bodyPr wrap="square"/>
          <a:lstStyle/>
          <a:p>
            <a:r>
              <a:rPr sz="1600">
                <a:solidFill>
                  <a:srgbClr val="202020"/>
                </a:solidFill>
                <a:latin typeface="Arial"/>
              </a:rPr>
              <a:t>request_id (UUID) e timestamp UTC.</a:t>
            </a:r>
          </a:p>
          <a:p>
            <a:r>
              <a:rPr sz="1600">
                <a:solidFill>
                  <a:srgbClr val="202020"/>
                </a:solidFill>
                <a:latin typeface="Arial"/>
              </a:rPr>
              <a:t>model_name e model_version (ou alias capturado no momento).</a:t>
            </a:r>
          </a:p>
          <a:p>
            <a:r>
              <a:rPr sz="1600">
                <a:solidFill>
                  <a:srgbClr val="202020"/>
                </a:solidFill>
                <a:latin typeface="Arial"/>
              </a:rPr>
              <a:t>Payload de entrada (pseudonimizado, se houver PII).</a:t>
            </a:r>
          </a:p>
          <a:p>
            <a:r>
              <a:rPr sz="1600">
                <a:solidFill>
                  <a:srgbClr val="202020"/>
                </a:solidFill>
                <a:latin typeface="Arial"/>
              </a:rPr>
              <a:t>Predição, probabilidade e latência.</a:t>
            </a:r>
          </a:p>
          <a:p>
            <a:r>
              <a:rPr sz="1600">
                <a:solidFill>
                  <a:srgbClr val="202020"/>
                </a:solidFill>
                <a:latin typeface="Arial"/>
              </a:rPr>
              <a:t>Cabeçalhos relevantes (tenant, canal).</a:t>
            </a:r>
          </a:p>
          <a:p>
            <a:r>
              <a:rPr sz="1600">
                <a:solidFill>
                  <a:srgbClr val="202020"/>
                </a:solidFill>
                <a:latin typeface="Arial"/>
              </a:rPr>
              <a:t>Armazenar em Postgres (volumes baixos) ou S3/Parquet (altos).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A269F15-7C1F-29C8-CCEA-F3212DAD33E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22</a:t>
            </a:fld>
            <a:endParaRPr lang="pt-B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5880" y="411480"/>
            <a:ext cx="7406640" cy="777240"/>
          </a:xfrm>
        </p:spPr>
        <p:txBody>
          <a:bodyPr/>
          <a:lstStyle/>
          <a:p>
            <a:r>
              <a:rPr>
                <a:solidFill>
                  <a:srgbClr val="202020"/>
                </a:solidFill>
                <a:latin typeface="Arial"/>
              </a:rPr>
              <a:t>Feedback loops: três tipos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1280160"/>
            <a:ext cx="7589520" cy="3223259"/>
          </a:xfrm>
        </p:spPr>
        <p:txBody>
          <a:bodyPr wrap="square"/>
          <a:lstStyle/>
          <a:p>
            <a:r>
              <a:rPr sz="1600">
                <a:solidFill>
                  <a:srgbClr val="202020"/>
                </a:solidFill>
                <a:latin typeface="Arial"/>
              </a:rPr>
              <a:t>Explícito: usuário marcou 'isto está errado'. Raro.</a:t>
            </a:r>
          </a:p>
          <a:p>
            <a:r>
              <a:rPr sz="1600">
                <a:solidFill>
                  <a:srgbClr val="202020"/>
                </a:solidFill>
                <a:latin typeface="Arial"/>
              </a:rPr>
              <a:t>Implícito: comportamento revela o real (clicou? converteu?).</a:t>
            </a:r>
          </a:p>
          <a:p>
            <a:r>
              <a:rPr sz="1600">
                <a:solidFill>
                  <a:srgbClr val="202020"/>
                </a:solidFill>
                <a:latin typeface="Arial"/>
              </a:rPr>
              <a:t>Ground truth com atraso: rótulo real só aparece dias depois.</a:t>
            </a:r>
          </a:p>
          <a:p>
            <a:r>
              <a:rPr sz="1600">
                <a:solidFill>
                  <a:srgbClr val="202020"/>
                </a:solidFill>
                <a:latin typeface="Arial"/>
              </a:rPr>
              <a:t>Cuidado: modelo pode influenciar o que vira dado de treino futuro.</a:t>
            </a:r>
          </a:p>
          <a:p>
            <a:r>
              <a:rPr sz="1600">
                <a:solidFill>
                  <a:srgbClr val="202020"/>
                </a:solidFill>
                <a:latin typeface="Arial"/>
              </a:rPr>
              <a:t>Mitigação: exploração (epsilon-greedy, banditos), amostragem aleatória.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17340AD-B269-46F1-E645-024766DC5C3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23</a:t>
            </a:fld>
            <a:endParaRPr lang="pt-B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5880" y="411480"/>
            <a:ext cx="7406640" cy="777240"/>
          </a:xfrm>
        </p:spPr>
        <p:txBody>
          <a:bodyPr/>
          <a:lstStyle/>
          <a:p>
            <a:r>
              <a:rPr>
                <a:solidFill>
                  <a:srgbClr val="202020"/>
                </a:solidFill>
                <a:latin typeface="Arial"/>
              </a:rPr>
              <a:t>Triggers de retreino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1280160"/>
            <a:ext cx="7589520" cy="3223259"/>
          </a:xfrm>
        </p:spPr>
        <p:txBody>
          <a:bodyPr wrap="square"/>
          <a:lstStyle/>
          <a:p>
            <a:r>
              <a:rPr sz="1600">
                <a:solidFill>
                  <a:srgbClr val="202020"/>
                </a:solidFill>
                <a:latin typeface="Arial"/>
              </a:rPr>
              <a:t>Agendado: todo domingo às 03h. Previsível, talvez desnecessário.</a:t>
            </a:r>
          </a:p>
          <a:p>
            <a:r>
              <a:rPr sz="1600">
                <a:solidFill>
                  <a:srgbClr val="202020"/>
                </a:solidFill>
                <a:latin typeface="Arial"/>
              </a:rPr>
              <a:t>Drift-based: PSI maior que 0.2 em qualquer feature dispara.</a:t>
            </a:r>
          </a:p>
          <a:p>
            <a:r>
              <a:rPr sz="1600">
                <a:solidFill>
                  <a:srgbClr val="202020"/>
                </a:solidFill>
                <a:latin typeface="Arial"/>
              </a:rPr>
              <a:t>Performance-based: AUC observada cai 5% versus baseline.</a:t>
            </a:r>
          </a:p>
          <a:p>
            <a:r>
              <a:rPr sz="1600">
                <a:solidFill>
                  <a:srgbClr val="202020"/>
                </a:solidFill>
                <a:latin typeface="Arial"/>
              </a:rPr>
              <a:t>Volume-based: N novos rótulos disponíveis.</a:t>
            </a:r>
          </a:p>
          <a:p>
            <a:r>
              <a:rPr sz="1600">
                <a:solidFill>
                  <a:srgbClr val="202020"/>
                </a:solidFill>
                <a:latin typeface="Arial"/>
              </a:rPr>
              <a:t>Mais robusto: combinar drift-based + performance-based.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3FDAD25-D23B-FA4A-C4F1-D46D29FA8DB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24</a:t>
            </a:fld>
            <a:endParaRPr lang="pt-B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5880" y="914400"/>
            <a:ext cx="4114800" cy="3200400"/>
          </a:xfrm>
        </p:spPr>
        <p:txBody>
          <a:bodyPr/>
          <a:lstStyle/>
          <a:p>
            <a:r>
              <a:rPr sz="3200">
                <a:latin typeface="Arial"/>
              </a:rPr>
              <a:t>Champion hoje.</a:t>
            </a:r>
          </a:p>
          <a:p>
            <a:r>
              <a:rPr sz="3200">
                <a:latin typeface="Arial"/>
              </a:rPr>
              <a:t>Challenger amanhã.</a:t>
            </a:r>
          </a:p>
        </p:txBody>
      </p:sp>
      <p:pic>
        <p:nvPicPr>
          <p:cNvPr id="4" name="Picture 3" descr="ra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0" y="1280160"/>
            <a:ext cx="3017520" cy="3017520"/>
          </a:xfrm>
          <a:prstGeom prst="rect">
            <a:avLst/>
          </a:prstGeom>
        </p:spPr>
      </p:pic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C76595F-DA6C-E3AF-D89D-E094FCCB882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25</a:t>
            </a:fld>
            <a:endParaRPr lang="pt-B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5880" y="411480"/>
            <a:ext cx="7406640" cy="777240"/>
          </a:xfrm>
        </p:spPr>
        <p:txBody>
          <a:bodyPr/>
          <a:lstStyle/>
          <a:p>
            <a:r>
              <a:rPr>
                <a:solidFill>
                  <a:srgbClr val="202020"/>
                </a:solidFill>
                <a:latin typeface="Arial"/>
              </a:rPr>
              <a:t>Pipeline de retreino ponta a ponta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1280160"/>
            <a:ext cx="7589520" cy="3223259"/>
          </a:xfrm>
        </p:spPr>
        <p:txBody>
          <a:bodyPr wrap="square"/>
          <a:lstStyle/>
          <a:p>
            <a:r>
              <a:rPr sz="1600">
                <a:solidFill>
                  <a:srgbClr val="202020"/>
                </a:solidFill>
                <a:latin typeface="Arial"/>
              </a:rPr>
              <a:t>Trigger dispara coleta de dados frescos.</a:t>
            </a:r>
          </a:p>
          <a:p>
            <a:r>
              <a:rPr sz="1600">
                <a:solidFill>
                  <a:srgbClr val="202020"/>
                </a:solidFill>
                <a:latin typeface="Arial"/>
              </a:rPr>
              <a:t>Validação de dados (schema, ranges, sanidade).</a:t>
            </a:r>
          </a:p>
          <a:p>
            <a:r>
              <a:rPr sz="1600">
                <a:solidFill>
                  <a:srgbClr val="202020"/>
                </a:solidFill>
                <a:latin typeface="Arial"/>
              </a:rPr>
              <a:t>Treino do challenger; avaliação contra o champion.</a:t>
            </a:r>
          </a:p>
          <a:p>
            <a:r>
              <a:rPr sz="1600">
                <a:solidFill>
                  <a:srgbClr val="202020"/>
                </a:solidFill>
                <a:latin typeface="Arial"/>
              </a:rPr>
              <a:t>Registro do novo modelo no Model Registry.</a:t>
            </a:r>
          </a:p>
          <a:p>
            <a:r>
              <a:rPr sz="1600">
                <a:solidFill>
                  <a:srgbClr val="202020"/>
                </a:solidFill>
                <a:latin typeface="Arial"/>
              </a:rPr>
              <a:t>Shadow scoring por X dias se a métrica passou o limiar.</a:t>
            </a:r>
          </a:p>
          <a:p>
            <a:r>
              <a:rPr sz="1600">
                <a:solidFill>
                  <a:srgbClr val="202020"/>
                </a:solidFill>
                <a:latin typeface="Arial"/>
              </a:rPr>
              <a:t>Promoção a @champion; antigo vira @archived.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BAEF4E6-A8D0-DD0D-E3F5-6E9906856EE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26</a:t>
            </a:fld>
            <a:endParaRPr lang="pt-B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5880" y="411480"/>
            <a:ext cx="7406640" cy="777240"/>
          </a:xfrm>
        </p:spPr>
        <p:txBody>
          <a:bodyPr/>
          <a:lstStyle/>
          <a:p>
            <a:r>
              <a:rPr>
                <a:solidFill>
                  <a:srgbClr val="202020"/>
                </a:solidFill>
                <a:latin typeface="Arial"/>
              </a:rPr>
              <a:t>Resumo da Unidade 4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1280160"/>
            <a:ext cx="7589520" cy="3223259"/>
          </a:xfrm>
        </p:spPr>
        <p:txBody>
          <a:bodyPr wrap="square"/>
          <a:lstStyle/>
          <a:p>
            <a:r>
              <a:rPr sz="1600">
                <a:solidFill>
                  <a:srgbClr val="202020"/>
                </a:solidFill>
                <a:latin typeface="Arial"/>
              </a:rPr>
              <a:t>ML falha em silêncio. Monitoramento contínuo é essencial.</a:t>
            </a:r>
          </a:p>
          <a:p>
            <a:r>
              <a:rPr sz="1600">
                <a:solidFill>
                  <a:srgbClr val="202020"/>
                </a:solidFill>
                <a:latin typeface="Arial"/>
              </a:rPr>
              <a:t>Três camadas de métricas; data drift e concept drift como diagnóstico.</a:t>
            </a:r>
          </a:p>
          <a:p>
            <a:r>
              <a:rPr sz="1600">
                <a:solidFill>
                  <a:srgbClr val="202020"/>
                </a:solidFill>
                <a:latin typeface="Arial"/>
              </a:rPr>
              <a:t>Log de predições e feedback loops alimentam retreino.</a:t>
            </a:r>
          </a:p>
          <a:p>
            <a:r>
              <a:rPr sz="1600">
                <a:solidFill>
                  <a:srgbClr val="202020"/>
                </a:solidFill>
                <a:latin typeface="Arial"/>
              </a:rPr>
              <a:t>Padrão Champion versus Challenger fecha o ciclo de vida.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7344514-283C-0CE6-B6DE-955C74F3380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27</a:t>
            </a:fld>
            <a:endParaRPr lang="pt-BR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5880" y="914400"/>
            <a:ext cx="4114800" cy="3200400"/>
          </a:xfrm>
        </p:spPr>
        <p:txBody>
          <a:bodyPr/>
          <a:lstStyle/>
          <a:p>
            <a:r>
              <a:rPr>
                <a:solidFill>
                  <a:srgbClr val="202020"/>
                </a:solidFill>
                <a:latin typeface="Arial"/>
              </a:rPr>
              <a:t>Intervalo até 10h25</a:t>
            </a:r>
          </a:p>
        </p:txBody>
      </p:sp>
      <p:pic>
        <p:nvPicPr>
          <p:cNvPr id="4" name="Picture 3" descr="coffee_break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0" y="1280160"/>
            <a:ext cx="3017520" cy="3017520"/>
          </a:xfrm>
          <a:prstGeom prst="rect">
            <a:avLst/>
          </a:prstGeom>
        </p:spPr>
      </p:pic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851619E-C1D7-3772-9EE9-3B32713AC76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28</a:t>
            </a:fld>
            <a:endParaRPr lang="pt-BR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5880" y="2011680"/>
            <a:ext cx="7406640" cy="1097280"/>
          </a:xfrm>
        </p:spPr>
        <p:txBody>
          <a:bodyPr/>
          <a:lstStyle/>
          <a:p>
            <a:r>
              <a:rPr>
                <a:solidFill>
                  <a:srgbClr val="202020"/>
                </a:solidFill>
                <a:latin typeface="Arial"/>
              </a:rPr>
              <a:t>Síntese do módulo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E0E394E-FF51-782F-6D3B-40082526897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29</a:t>
            </a:fld>
            <a:endParaRPr lang="pt-BR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5880" y="411480"/>
            <a:ext cx="7406640" cy="777240"/>
          </a:xfrm>
        </p:spPr>
        <p:txBody>
          <a:bodyPr/>
          <a:lstStyle/>
          <a:p>
            <a:r>
              <a:rPr>
                <a:solidFill>
                  <a:srgbClr val="202020"/>
                </a:solidFill>
                <a:latin typeface="Arial"/>
              </a:rPr>
              <a:t>Mapa do que aprendemos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1280160"/>
            <a:ext cx="7589520" cy="3223259"/>
          </a:xfrm>
        </p:spPr>
        <p:txBody>
          <a:bodyPr wrap="square"/>
          <a:lstStyle/>
          <a:p>
            <a:r>
              <a:rPr sz="1600">
                <a:solidFill>
                  <a:srgbClr val="202020"/>
                </a:solidFill>
                <a:latin typeface="Arial"/>
              </a:rPr>
              <a:t>MLOps existe para levar modelo de notebook a produção e mantê-lo lá.</a:t>
            </a:r>
          </a:p>
          <a:p>
            <a:r>
              <a:rPr sz="1600">
                <a:solidFill>
                  <a:srgbClr val="202020"/>
                </a:solidFill>
                <a:latin typeface="Arial"/>
              </a:rPr>
              <a:t>Ementa coberta: ambientes reprodutíveis, Git e DVC, MLflow, FastAPI, Docker, GitHub Actions, Rolling Update, drift, feedback loops, retreinamento.</a:t>
            </a:r>
          </a:p>
          <a:p>
            <a:r>
              <a:rPr sz="1600">
                <a:solidFill>
                  <a:srgbClr val="202020"/>
                </a:solidFill>
                <a:latin typeface="Arial"/>
              </a:rPr>
              <a:t>Stack open-source completa: uv, Git, DVC, MLflow, FastAPI, Docker, GitHub Actions, Evidently.</a:t>
            </a:r>
          </a:p>
          <a:p>
            <a:r>
              <a:rPr sz="1600">
                <a:solidFill>
                  <a:srgbClr val="202020"/>
                </a:solidFill>
                <a:latin typeface="Arial"/>
              </a:rPr>
              <a:t>Pipeline ponta a ponta: treino, registro, A/B, deploy condicional, monitoramento.</a:t>
            </a:r>
          </a:p>
          <a:p>
            <a:r>
              <a:rPr sz="1600">
                <a:solidFill>
                  <a:srgbClr val="202020"/>
                </a:solidFill>
                <a:latin typeface="Arial"/>
              </a:rPr>
              <a:t>Tudo demonstrado ao vivo e disponível em github.com/gilvanveras/wine-mlops-solution.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21BBC9F-DDF1-7E32-756E-346C52D0BCE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30</a:t>
            </a:fld>
            <a:endParaRPr lang="pt-BR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5880" y="411480"/>
            <a:ext cx="7406640" cy="777240"/>
          </a:xfrm>
        </p:spPr>
        <p:txBody>
          <a:bodyPr/>
          <a:lstStyle/>
          <a:p>
            <a:r>
              <a:rPr>
                <a:solidFill>
                  <a:srgbClr val="202020"/>
                </a:solidFill>
                <a:latin typeface="Arial"/>
              </a:rPr>
              <a:t>Onde estudar mais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1280160"/>
            <a:ext cx="7589520" cy="3223259"/>
          </a:xfrm>
        </p:spPr>
        <p:txBody>
          <a:bodyPr wrap="square"/>
          <a:lstStyle/>
          <a:p>
            <a:r>
              <a:rPr sz="1600">
                <a:solidFill>
                  <a:srgbClr val="202020"/>
                </a:solidFill>
                <a:latin typeface="Arial"/>
              </a:rPr>
              <a:t>Designing Machine Learning Systems (Chip Huyen). Texto de referência.</a:t>
            </a:r>
          </a:p>
          <a:p>
            <a:r>
              <a:rPr sz="1600">
                <a:solidFill>
                  <a:srgbClr val="202020"/>
                </a:solidFill>
                <a:latin typeface="Arial"/>
              </a:rPr>
              <a:t>Machine Learning Engineering (Andriy Burkov). Pragmático.</a:t>
            </a:r>
          </a:p>
          <a:p>
            <a:r>
              <a:rPr sz="1600">
                <a:solidFill>
                  <a:srgbClr val="202020"/>
                </a:solidFill>
                <a:latin typeface="Arial"/>
              </a:rPr>
              <a:t>Practical MLOps (Gift e Deza). Automação ponta a ponta.</a:t>
            </a:r>
          </a:p>
          <a:p>
            <a:r>
              <a:rPr sz="1600">
                <a:solidFill>
                  <a:srgbClr val="202020"/>
                </a:solidFill>
                <a:latin typeface="Arial"/>
              </a:rPr>
              <a:t>MLOps Zoomcamp (DataTalks.Club). Curso livre.</a:t>
            </a:r>
          </a:p>
          <a:p>
            <a:r>
              <a:rPr sz="1600">
                <a:solidFill>
                  <a:srgbClr val="202020"/>
                </a:solidFill>
                <a:latin typeface="Arial"/>
              </a:rPr>
              <a:t>ML-ops.org e Awesome-MLOps no GitHub.</a:t>
            </a:r>
          </a:p>
          <a:p>
            <a:r>
              <a:rPr sz="1600">
                <a:solidFill>
                  <a:srgbClr val="202020"/>
                </a:solidFill>
                <a:latin typeface="Arial"/>
              </a:rPr>
              <a:t>Documentação oficial de MLflow, DVC, FastAPI, GitHub Actions, Evidently.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D133D5A-ACCE-B534-D04A-9E53A95CDD8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31</a:t>
            </a:fld>
            <a:endParaRPr lang="pt-BR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5880" y="2011680"/>
            <a:ext cx="7406640" cy="1097280"/>
          </a:xfrm>
        </p:spPr>
        <p:txBody>
          <a:bodyPr/>
          <a:lstStyle/>
          <a:p>
            <a:r>
              <a:rPr>
                <a:solidFill>
                  <a:srgbClr val="202020"/>
                </a:solidFill>
                <a:latin typeface="Arial"/>
              </a:rPr>
              <a:t>Avaliação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29CA392-F11A-A37D-6986-AA45996B097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32</a:t>
            </a:fld>
            <a:endParaRPr lang="pt-BR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5880" y="411480"/>
            <a:ext cx="7406640" cy="777240"/>
          </a:xfrm>
        </p:spPr>
        <p:txBody>
          <a:bodyPr/>
          <a:lstStyle/>
          <a:p>
            <a:r>
              <a:rPr>
                <a:solidFill>
                  <a:srgbClr val="202020"/>
                </a:solidFill>
                <a:latin typeface="Arial"/>
              </a:rPr>
              <a:t>Estrutura da avaliação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1280160"/>
            <a:ext cx="7589520" cy="3223259"/>
          </a:xfrm>
        </p:spPr>
        <p:txBody>
          <a:bodyPr wrap="square"/>
          <a:lstStyle/>
          <a:p>
            <a:r>
              <a:rPr sz="1600">
                <a:solidFill>
                  <a:srgbClr val="202020"/>
                </a:solidFill>
                <a:latin typeface="Arial"/>
              </a:rPr>
              <a:t>Parte 1 (50 pts): Prova Objetiva. 10 questões de múltipla escolha. 30 min. Sem consulta.</a:t>
            </a:r>
          </a:p>
          <a:p>
            <a:r>
              <a:rPr sz="1600">
                <a:solidFill>
                  <a:srgbClr val="202020"/>
                </a:solidFill>
                <a:latin typeface="Arial"/>
              </a:rPr>
              <a:t>Parte 2 (50 pts): Atividade Prática Operacional. Repositório pronto. 50 min. Com consulta.</a:t>
            </a:r>
          </a:p>
          <a:p>
            <a:r>
              <a:rPr sz="1600">
                <a:solidFill>
                  <a:srgbClr val="202020"/>
                </a:solidFill>
                <a:latin typeface="Arial"/>
              </a:rPr>
              <a:t>Total 100 pts. Aprovação a partir de 60.</a:t>
            </a:r>
          </a:p>
          <a:p>
            <a:r>
              <a:rPr sz="1600">
                <a:solidFill>
                  <a:srgbClr val="202020"/>
                </a:solidFill>
                <a:latin typeface="Arial"/>
              </a:rPr>
              <a:t>Cronograma: 11h00-11h30 Parte 1; 11h00-11h50 Parte 2; 11h50-11h55 demonstração.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EC64599-1419-81FB-BD1A-F52AF9CAE2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33</a:t>
            </a:fld>
            <a:endParaRPr lang="pt-BR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5880" y="411480"/>
            <a:ext cx="7406640" cy="777240"/>
          </a:xfrm>
        </p:spPr>
        <p:txBody>
          <a:bodyPr/>
          <a:lstStyle/>
          <a:p>
            <a:r>
              <a:rPr>
                <a:solidFill>
                  <a:srgbClr val="202020"/>
                </a:solidFill>
                <a:latin typeface="Arial"/>
              </a:rPr>
              <a:t>Parte 1 - Prova Objetiva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1280160"/>
            <a:ext cx="7589520" cy="3223259"/>
          </a:xfrm>
        </p:spPr>
        <p:txBody>
          <a:bodyPr wrap="square"/>
          <a:lstStyle/>
          <a:p>
            <a:r>
              <a:rPr sz="1600">
                <a:solidFill>
                  <a:srgbClr val="202020"/>
                </a:solidFill>
                <a:latin typeface="Arial"/>
              </a:rPr>
              <a:t>10 questões de múltipla escolha, 5 pontos cada.</a:t>
            </a:r>
          </a:p>
          <a:p>
            <a:r>
              <a:rPr sz="1600">
                <a:solidFill>
                  <a:srgbClr val="202020"/>
                </a:solidFill>
                <a:latin typeface="Arial"/>
              </a:rPr>
              <a:t>Conteúdo: tudo que vimos nos dois dias (Unidades 1 a 4).</a:t>
            </a:r>
          </a:p>
          <a:p>
            <a:r>
              <a:rPr sz="1600">
                <a:solidFill>
                  <a:srgbClr val="202020"/>
                </a:solidFill>
                <a:latin typeface="Arial"/>
              </a:rPr>
              <a:t>Tempo: 30 minutos.</a:t>
            </a:r>
          </a:p>
          <a:p>
            <a:r>
              <a:rPr sz="1600">
                <a:solidFill>
                  <a:srgbClr val="202020"/>
                </a:solidFill>
                <a:latin typeface="Arial"/>
              </a:rPr>
              <a:t>Sem consulta: nada de material, celular, IA ou internet.</a:t>
            </a:r>
          </a:p>
          <a:p>
            <a:r>
              <a:rPr sz="1600">
                <a:solidFill>
                  <a:srgbClr val="202020"/>
                </a:solidFill>
                <a:latin typeface="Arial"/>
              </a:rPr>
              <a:t>Folha de resposta com seu nome no cabeçalho.</a:t>
            </a:r>
          </a:p>
          <a:p>
            <a:r>
              <a:rPr sz="1600">
                <a:solidFill>
                  <a:srgbClr val="202020"/>
                </a:solidFill>
                <a:latin typeface="Arial"/>
              </a:rPr>
              <a:t>Mais de uma alternativa marcada na mesma questão anula a questão.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D541154-89E8-B990-A9BD-B425E046C7F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34</a:t>
            </a:fld>
            <a:endParaRPr lang="pt-BR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5880" y="411480"/>
            <a:ext cx="7406640" cy="777240"/>
          </a:xfrm>
        </p:spPr>
        <p:txBody>
          <a:bodyPr/>
          <a:lstStyle/>
          <a:p>
            <a:r>
              <a:rPr>
                <a:solidFill>
                  <a:srgbClr val="202020"/>
                </a:solidFill>
                <a:latin typeface="Arial"/>
              </a:rPr>
              <a:t>Parte 2 - Atividade Prática Operacional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1280160"/>
            <a:ext cx="7589520" cy="3223259"/>
          </a:xfrm>
        </p:spPr>
        <p:txBody>
          <a:bodyPr wrap="square"/>
          <a:lstStyle/>
          <a:p>
            <a:r>
              <a:rPr sz="1600">
                <a:solidFill>
                  <a:srgbClr val="202020"/>
                </a:solidFill>
                <a:latin typeface="Arial"/>
              </a:rPr>
              <a:t>Repositório pronto em github.com/gilvanveras/wine-mlops-solution.</a:t>
            </a:r>
          </a:p>
          <a:p>
            <a:r>
              <a:rPr sz="1600">
                <a:solidFill>
                  <a:srgbClr val="202020"/>
                </a:solidFill>
                <a:latin typeface="Arial"/>
              </a:rPr>
              <a:t>Tarefa A: clonar e publicar no SEU GitHub.</a:t>
            </a:r>
          </a:p>
          <a:p>
            <a:r>
              <a:rPr sz="1600">
                <a:solidFill>
                  <a:srgbClr val="202020"/>
                </a:solidFill>
                <a:latin typeface="Arial"/>
              </a:rPr>
              <a:t>Tarefa B: workflow do GitHub Actions verde + imagem no GHCR pública.</a:t>
            </a:r>
          </a:p>
          <a:p>
            <a:r>
              <a:rPr sz="1600">
                <a:solidFill>
                  <a:srgbClr val="202020"/>
                </a:solidFill>
                <a:latin typeface="Arial"/>
              </a:rPr>
              <a:t>Tarefa C: docker compose up com MLflow e API rodando localmente.</a:t>
            </a:r>
          </a:p>
          <a:p>
            <a:r>
              <a:rPr sz="1600">
                <a:solidFill>
                  <a:srgbClr val="202020"/>
                </a:solidFill>
                <a:latin typeface="Arial"/>
              </a:rPr>
              <a:t>Tarefa D: ciclo de vida demonstrado (bootstrap, train, evaluate, promote, curl).</a:t>
            </a:r>
          </a:p>
          <a:p>
            <a:r>
              <a:rPr sz="1600">
                <a:solidFill>
                  <a:srgbClr val="202020"/>
                </a:solidFill>
                <a:latin typeface="Arial"/>
              </a:rPr>
              <a:t>Cada tarefa vale 12,5 pts.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DCBAA64-B7B3-5A4D-D293-A1DCC24715E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35</a:t>
            </a:fld>
            <a:endParaRPr lang="pt-BR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5880" y="411480"/>
            <a:ext cx="7406640" cy="777240"/>
          </a:xfrm>
        </p:spPr>
        <p:txBody>
          <a:bodyPr/>
          <a:lstStyle/>
          <a:p>
            <a:r>
              <a:rPr>
                <a:solidFill>
                  <a:srgbClr val="202020"/>
                </a:solidFill>
                <a:latin typeface="Arial"/>
              </a:rPr>
              <a:t>Regras da Parte 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1280160"/>
            <a:ext cx="7589520" cy="3223259"/>
          </a:xfrm>
        </p:spPr>
        <p:txBody>
          <a:bodyPr wrap="square"/>
          <a:lstStyle/>
          <a:p>
            <a:r>
              <a:rPr sz="1600">
                <a:solidFill>
                  <a:srgbClr val="202020"/>
                </a:solidFill>
                <a:latin typeface="Arial"/>
              </a:rPr>
              <a:t>Tempo: 50 minutos.</a:t>
            </a:r>
          </a:p>
          <a:p>
            <a:r>
              <a:rPr sz="1600">
                <a:solidFill>
                  <a:srgbClr val="202020"/>
                </a:solidFill>
                <a:latin typeface="Arial"/>
              </a:rPr>
              <a:t>Permitido: documentação, internet, LLMs (ChatGPT, Claude, Copilot).</a:t>
            </a:r>
          </a:p>
          <a:p>
            <a:r>
              <a:rPr sz="1600">
                <a:solidFill>
                  <a:srgbClr val="202020"/>
                </a:solidFill>
                <a:latin typeface="Arial"/>
              </a:rPr>
              <a:t>Vedado: compartilhar comandos, telas ou repositórios entre alunos.</a:t>
            </a:r>
          </a:p>
          <a:p>
            <a:r>
              <a:rPr sz="1600">
                <a:solidFill>
                  <a:srgbClr val="202020"/>
                </a:solidFill>
                <a:latin typeface="Arial"/>
              </a:rPr>
              <a:t>Defesa oral pode ser pedida a qualquer momento.</a:t>
            </a:r>
          </a:p>
          <a:p>
            <a:r>
              <a:rPr sz="1600">
                <a:solidFill>
                  <a:srgbClr val="202020"/>
                </a:solidFill>
                <a:latin typeface="Arial"/>
              </a:rPr>
              <a:t>Entrega: link do seu repositório por e-mail antes de 11h55 + captura do docker compose ps.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9800F77-8805-D2DA-2F82-598E31D5134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36</a:t>
            </a:fld>
            <a:endParaRPr lang="pt-BR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5880" y="914400"/>
            <a:ext cx="4114800" cy="3200400"/>
          </a:xfrm>
        </p:spPr>
        <p:txBody>
          <a:bodyPr/>
          <a:lstStyle/>
          <a:p>
            <a:r>
              <a:rPr sz="3200">
                <a:latin typeface="Arial"/>
              </a:rPr>
              <a:t>Boa avaliação.</a:t>
            </a:r>
          </a:p>
          <a:p>
            <a:r>
              <a:rPr sz="3200">
                <a:latin typeface="Arial"/>
              </a:rPr>
              <a:t>Parte 1 começa 10h30.</a:t>
            </a:r>
          </a:p>
        </p:txBody>
      </p:sp>
      <p:pic>
        <p:nvPicPr>
          <p:cNvPr id="4" name="Picture 3" descr="books_ex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0" y="1280160"/>
            <a:ext cx="3017520" cy="3017520"/>
          </a:xfrm>
          <a:prstGeom prst="rect">
            <a:avLst/>
          </a:prstGeom>
        </p:spPr>
      </p:pic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8C90278-A385-2F50-B266-2036E4BDC62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37</a:t>
            </a:fld>
            <a:endParaRPr lang="pt-B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1888</Words>
  <Application>Microsoft Office PowerPoint</Application>
  <PresentationFormat>Apresentação na tela (16:9)</PresentationFormat>
  <Paragraphs>254</Paragraphs>
  <Slides>37</Slides>
  <Notes>3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37</vt:i4>
      </vt:variant>
    </vt:vector>
  </HeadingPairs>
  <TitlesOfParts>
    <vt:vector size="40" baseType="lpstr">
      <vt:lpstr>Arial</vt:lpstr>
      <vt:lpstr>Consolas</vt:lpstr>
      <vt:lpstr>Simple Light</vt:lpstr>
      <vt:lpstr>MLOps</vt:lpstr>
      <vt:lpstr>Agenda do domingo</vt:lpstr>
      <vt:lpstr>Retomada do sábado</vt:lpstr>
      <vt:lpstr>Unidade 3 (parte 2)</vt:lpstr>
      <vt:lpstr>Anatomia de um workflow</vt:lpstr>
      <vt:lpstr>Pipeline de ML em GitHub Actions</vt:lpstr>
      <vt:lpstr>Workflow típico de ML</vt:lpstr>
      <vt:lpstr>Boas práticas em CI/CD para ML</vt:lpstr>
      <vt:lpstr>CI/CD de ML decide: promover ou não.</vt:lpstr>
      <vt:lpstr>Cinco estratégias de rollout</vt:lpstr>
      <vt:lpstr>Recreate vs Rolling Update</vt:lpstr>
      <vt:lpstr>Rolling Update em detalhe</vt:lpstr>
      <vt:lpstr>Shadow deployment: tráfego real, risco zero.</vt:lpstr>
      <vt:lpstr>Shadow deployment para ML</vt:lpstr>
      <vt:lpstr>Unidade 4</vt:lpstr>
      <vt:lpstr>Software falha alto. ML falha baixo.</vt:lpstr>
      <vt:lpstr>Por que monitorar ML é diferente</vt:lpstr>
      <vt:lpstr>Três camadas de métricas</vt:lpstr>
      <vt:lpstr>Data drift vs Concept drift</vt:lpstr>
      <vt:lpstr>Testes estatísticos para drift</vt:lpstr>
      <vt:lpstr>Evidently AI em uma chamada</vt:lpstr>
      <vt:lpstr>Log de predições: o que registrar</vt:lpstr>
      <vt:lpstr>Feedback loops: três tipos</vt:lpstr>
      <vt:lpstr>Triggers de retreino</vt:lpstr>
      <vt:lpstr>Champion hoje. Challenger amanhã.</vt:lpstr>
      <vt:lpstr>Pipeline de retreino ponta a ponta</vt:lpstr>
      <vt:lpstr>Resumo da Unidade 4</vt:lpstr>
      <vt:lpstr>Intervalo até 10h25</vt:lpstr>
      <vt:lpstr>Síntese do módulo</vt:lpstr>
      <vt:lpstr>Mapa do que aprendemos</vt:lpstr>
      <vt:lpstr>Onde estudar mais</vt:lpstr>
      <vt:lpstr>Avaliação</vt:lpstr>
      <vt:lpstr>Estrutura da avaliação</vt:lpstr>
      <vt:lpstr>Parte 1 - Prova Objetiva</vt:lpstr>
      <vt:lpstr>Parte 2 - Atividade Prática Operacional</vt:lpstr>
      <vt:lpstr>Regras da Parte 2</vt:lpstr>
      <vt:lpstr>Boa avaliação. Parte 1 começa 10h30.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AMANDA ALVES MOURA FÉ</dc:creator>
  <cp:lastModifiedBy>Gilvan Veras</cp:lastModifiedBy>
  <cp:revision>7</cp:revision>
  <dcterms:modified xsi:type="dcterms:W3CDTF">2026-05-30T05:10:41Z</dcterms:modified>
</cp:coreProperties>
</file>