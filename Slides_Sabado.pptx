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311" r:id="rId4"/>
    <p:sldId id="258" r:id="rId5"/>
    <p:sldId id="259" r:id="rId6"/>
    <p:sldId id="310" r:id="rId7"/>
    <p:sldId id="260" r:id="rId8"/>
    <p:sldId id="308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312" r:id="rId22"/>
    <p:sldId id="275" r:id="rId23"/>
    <p:sldId id="401" r:id="rId24"/>
    <p:sldId id="274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307" r:id="rId33"/>
    <p:sldId id="313" r:id="rId34"/>
    <p:sldId id="284" r:id="rId35"/>
    <p:sldId id="285" r:id="rId36"/>
    <p:sldId id="286" r:id="rId37"/>
    <p:sldId id="287" r:id="rId38"/>
    <p:sldId id="306" r:id="rId39"/>
    <p:sldId id="288" r:id="rId40"/>
    <p:sldId id="289" r:id="rId41"/>
    <p:sldId id="305" r:id="rId42"/>
    <p:sldId id="314" r:id="rId43"/>
    <p:sldId id="406" r:id="rId44"/>
    <p:sldId id="402" r:id="rId45"/>
    <p:sldId id="405" r:id="rId46"/>
    <p:sldId id="290" r:id="rId47"/>
    <p:sldId id="291" r:id="rId48"/>
    <p:sldId id="292" r:id="rId49"/>
    <p:sldId id="293" r:id="rId50"/>
    <p:sldId id="309" r:id="rId51"/>
    <p:sldId id="294" r:id="rId52"/>
    <p:sldId id="295" r:id="rId53"/>
    <p:sldId id="296" r:id="rId54"/>
    <p:sldId id="297" r:id="rId55"/>
    <p:sldId id="304" r:id="rId56"/>
    <p:sldId id="403" r:id="rId57"/>
    <p:sldId id="404" r:id="rId58"/>
    <p:sldId id="298" r:id="rId59"/>
    <p:sldId id="299" r:id="rId60"/>
    <p:sldId id="300" r:id="rId61"/>
    <p:sldId id="302" r:id="rId62"/>
    <p:sldId id="303" r:id="rId6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j99o65RQNB+RqZ5MiLmsOXvECi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24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Apresentação pessoal de ~3 min. Imagem opcional: foto do professor no canto direito.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Stack 100% open-source, roda no notebook do aluno. Espelha o que Netflix, Airbnb e Nubank usam, em escala menor.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07F9D-5EA0-1B26-6ACD-CC691CBA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2E2AA-8790-8E9A-1CCA-ECDAD2459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4287E-26E2-8B28-D61A-5CB69C82D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Pause: 5 a 8 minutos. Objetivo é que 100% da turma chegue ao próximo slide com uv, Python 3.11, git e Docker rodando.</a:t>
            </a:r>
          </a:p>
          <a:p>
            <a:endParaRPr sz="1200">
              <a:solidFill>
                <a:srgbClr val="202020"/>
              </a:solidFill>
              <a:latin typeface="Arial"/>
            </a:endParaRPr>
          </a:p>
          <a:p>
            <a:r>
              <a:rPr sz="1200">
                <a:solidFill>
                  <a:srgbClr val="202020"/>
                </a:solidFill>
                <a:latin typeface="Arial"/>
              </a:rPr>
              <a:t>Troubleshooting comum: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- Windows e 'irm ... | iex' bloqueado: rodar PowerShell como Admin ou Set-ExecutionPolicy -Scope CurrentUser RemoteSigned.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- Docker Desktop preso em 'starting': reiniciar o serviço e aguardar WSL2 iniciar.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- 'uv python install 3.11' sem rede: usar python.org installer e depois 'uv python pin 3.11'.</a:t>
            </a:r>
          </a:p>
          <a:p>
            <a:endParaRPr sz="1200">
              <a:solidFill>
                <a:srgbClr val="202020"/>
              </a:solidFill>
              <a:latin typeface="Arial"/>
            </a:endParaRPr>
          </a:p>
          <a:p>
            <a:r>
              <a:rPr sz="1200">
                <a:solidFill>
                  <a:srgbClr val="202020"/>
                </a:solidFill>
                <a:latin typeface="Arial"/>
              </a:rPr>
              <a:t>Referências da stack: fmind/mlops-coding-course capítulo 1 (Initializing) e DataTalks.Club mlops-zoomcamp 01-intro/02-experiment-tracking.</a:t>
            </a:r>
          </a:p>
        </p:txBody>
      </p:sp>
    </p:spTree>
    <p:extLst>
      <p:ext uri="{BB962C8B-B14F-4D97-AF65-F5344CB8AC3E}">
        <p14:creationId xmlns:p14="http://schemas.microsoft.com/office/powerpoint/2010/main" val="1238644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Pause: 5 a 8 minutos. Objetivo é que 100% da turma chegue ao próximo slide com uv, Python 3.11, git e Docker rodando.</a:t>
            </a:r>
          </a:p>
          <a:p>
            <a:endParaRPr sz="1200">
              <a:solidFill>
                <a:srgbClr val="202020"/>
              </a:solidFill>
              <a:latin typeface="Arial"/>
            </a:endParaRPr>
          </a:p>
          <a:p>
            <a:r>
              <a:rPr sz="1200">
                <a:solidFill>
                  <a:srgbClr val="202020"/>
                </a:solidFill>
                <a:latin typeface="Arial"/>
              </a:rPr>
              <a:t>Troubleshooting comum: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- Windows e 'irm ... | iex' bloqueado: rodar PowerShell como Admin ou Set-ExecutionPolicy -Scope CurrentUser RemoteSigned.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- Docker Desktop preso em 'starting': reiniciar o serviço e aguardar WSL2 iniciar.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- 'uv python install 3.11' sem rede: usar python.org installer e depois 'uv python pin 3.11'.</a:t>
            </a:r>
          </a:p>
          <a:p>
            <a:endParaRPr sz="1200">
              <a:solidFill>
                <a:srgbClr val="202020"/>
              </a:solidFill>
              <a:latin typeface="Arial"/>
            </a:endParaRPr>
          </a:p>
          <a:p>
            <a:r>
              <a:rPr sz="1200">
                <a:solidFill>
                  <a:srgbClr val="202020"/>
                </a:solidFill>
                <a:latin typeface="Arial"/>
              </a:rPr>
              <a:t>Referências da stack: fmind/mlops-coding-course capítulo 1 (Initializing) e DataTalks.Club mlops-zoomcamp 01-intro/02-experiment-tracking.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O modelo em produção não é 'done': é um sistema vivo. Experimento gera artefato; Empacotar serializa pipeline; Implantar publica em CI/CD; Monitorar detecta drift; Re-treinar fecha o loop. Cada bloco do curso encaixa em uma fase.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Imagem opcional: print de terminal mostrando 'uv sync' instalando 90+ pacotes em segundos.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Validação do que cada comando provou: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1) uv.lock criado: ambiente reconstruível bit a bit em qualquer máquina.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2) data/wine.parquet.dvc com hash sha256: ponteiro versionável no Git.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3) dvc push: dado real no remote /tmp/dvcstore; Git permanece pequeno.</a:t>
            </a:r>
          </a:p>
          <a:p>
            <a:endParaRPr sz="1200">
              <a:solidFill>
                <a:srgbClr val="202020"/>
              </a:solidFill>
              <a:latin typeface="Arial"/>
            </a:endParaRPr>
          </a:p>
          <a:p>
            <a:r>
              <a:rPr sz="1200">
                <a:solidFill>
                  <a:srgbClr val="202020"/>
                </a:solidFill>
                <a:latin typeface="Arial"/>
              </a:rPr>
              <a:t>Em outro terminal demonstrar reprodutibilidade: rm -rf wine-demo &amp;&amp; git clone &lt;repo&gt; wine-demo2 &amp;&amp; cd wine-demo2 &amp;&amp; uv sync &amp;&amp; uv run dvc pull. O dataset volta exatamente como estava.</a:t>
            </a:r>
          </a:p>
          <a:p>
            <a:endParaRPr sz="1200">
              <a:solidFill>
                <a:srgbClr val="202020"/>
              </a:solidFill>
              <a:latin typeface="Arial"/>
            </a:endParaRPr>
          </a:p>
          <a:p>
            <a:r>
              <a:rPr sz="1200">
                <a:solidFill>
                  <a:srgbClr val="202020"/>
                </a:solidFill>
                <a:latin typeface="Arial"/>
              </a:rPr>
              <a:t>Referências abertas no projetor: https://dvc.org/doc/start e https://mlops-coding-course.fmind.dev (capítulos 1.3 uv e 7.0 reprodutibilidade).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Explicar que 'dvc repro' re-executa apenas o que mudou.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Validação visual da UI: 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- Lista de experimentos mostra 'wine-demo' com 2 runs ('rf' e 'gb').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- Tela Compare mostra Parallel Coordinates: parâmetros conectados a f1_macro.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- Models -&gt; wine-rf: 2 versões com timestamps; aplicar alias @champion na de maior f1_macro.</a:t>
            </a:r>
          </a:p>
          <a:p>
            <a:endParaRPr sz="1200">
              <a:solidFill>
                <a:srgbClr val="202020"/>
              </a:solidFill>
              <a:latin typeface="Arial"/>
            </a:endParaRPr>
          </a:p>
          <a:p>
            <a:r>
              <a:rPr sz="1200">
                <a:solidFill>
                  <a:srgbClr val="202020"/>
                </a:solidFill>
                <a:latin typeface="Arial"/>
              </a:rPr>
              <a:t>Pontos pedagógicos a destacar: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1) Cada run carrega params, métricas e artefato (.pkl + signature) automaticamente.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2) registered_model_name dispara o versionamento no Registry sem outro comando.</a:t>
            </a:r>
          </a:p>
          <a:p>
            <a:r>
              <a:rPr sz="1200">
                <a:solidFill>
                  <a:srgbClr val="202020"/>
                </a:solidFill>
                <a:latin typeface="Arial"/>
              </a:rPr>
              <a:t>3) O alias @champion é o que o serving carrega, nunca a versão fixa.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Imagem opcional: comparação de tamanhos (image full ~1.2GB vs multi-stage ~250MB).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jp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5880" y="1097280"/>
            <a:ext cx="7406640" cy="1463040"/>
          </a:xfrm>
        </p:spPr>
        <p:txBody>
          <a:bodyPr/>
          <a:lstStyle/>
          <a:p>
            <a:pPr algn="l"/>
            <a:r>
              <a:rPr dirty="0" err="1">
                <a:solidFill>
                  <a:srgbClr val="202020"/>
                </a:solidFill>
                <a:latin typeface="Arial"/>
              </a:rPr>
              <a:t>MLOps</a:t>
            </a:r>
            <a:endParaRPr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5880" y="2651760"/>
            <a:ext cx="7406640" cy="164592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sz="1800" dirty="0" err="1">
                <a:solidFill>
                  <a:srgbClr val="202020"/>
                </a:solidFill>
                <a:latin typeface="Arial"/>
              </a:rPr>
              <a:t>Modelos</a:t>
            </a:r>
            <a:r>
              <a:rPr sz="1800" dirty="0">
                <a:solidFill>
                  <a:srgbClr val="202020"/>
                </a:solidFill>
                <a:latin typeface="Arial"/>
              </a:rPr>
              <a:t> de IA </a:t>
            </a:r>
            <a:r>
              <a:rPr sz="1800" dirty="0" err="1">
                <a:solidFill>
                  <a:srgbClr val="202020"/>
                </a:solidFill>
                <a:latin typeface="Arial"/>
              </a:rPr>
              <a:t>em</a:t>
            </a:r>
            <a:r>
              <a:rPr sz="1800" dirty="0">
                <a:solidFill>
                  <a:srgbClr val="20202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202020"/>
                </a:solidFill>
                <a:latin typeface="Arial"/>
              </a:rPr>
              <a:t>produção</a:t>
            </a:r>
            <a:endParaRPr sz="1800" dirty="0">
              <a:solidFill>
                <a:srgbClr val="202020"/>
              </a:solidFill>
              <a:latin typeface="Arial"/>
            </a:endParaRPr>
          </a:p>
          <a:p>
            <a:pPr algn="l"/>
            <a:endParaRPr sz="1800" dirty="0">
              <a:solidFill>
                <a:srgbClr val="202020"/>
              </a:solidFill>
              <a:latin typeface="Arial"/>
            </a:endParaRPr>
          </a:p>
          <a:p>
            <a:pPr algn="l"/>
            <a:r>
              <a:rPr sz="1800" dirty="0" err="1">
                <a:solidFill>
                  <a:srgbClr val="202020"/>
                </a:solidFill>
                <a:latin typeface="Arial"/>
              </a:rPr>
              <a:t>Encontro</a:t>
            </a:r>
            <a:r>
              <a:rPr sz="1800" dirty="0">
                <a:solidFill>
                  <a:srgbClr val="202020"/>
                </a:solidFill>
                <a:latin typeface="Arial"/>
              </a:rPr>
              <a:t> 1: </a:t>
            </a:r>
            <a:r>
              <a:rPr sz="1800" dirty="0" err="1">
                <a:solidFill>
                  <a:srgbClr val="202020"/>
                </a:solidFill>
                <a:latin typeface="Arial"/>
              </a:rPr>
              <a:t>sábado</a:t>
            </a:r>
            <a:r>
              <a:rPr sz="1800" dirty="0">
                <a:solidFill>
                  <a:srgbClr val="202020"/>
                </a:solidFill>
                <a:latin typeface="Arial"/>
              </a:rPr>
              <a:t>, 30/05/2026</a:t>
            </a:r>
          </a:p>
          <a:p>
            <a:pPr algn="l"/>
            <a:r>
              <a:rPr sz="1800" dirty="0">
                <a:solidFill>
                  <a:srgbClr val="202020"/>
                </a:solidFill>
                <a:latin typeface="Arial"/>
              </a:rPr>
              <a:t>14h30 </a:t>
            </a:r>
            <a:r>
              <a:rPr sz="1800" dirty="0" err="1">
                <a:solidFill>
                  <a:srgbClr val="202020"/>
                </a:solidFill>
                <a:latin typeface="Arial"/>
              </a:rPr>
              <a:t>às</a:t>
            </a:r>
            <a:r>
              <a:rPr sz="1800" dirty="0">
                <a:solidFill>
                  <a:srgbClr val="202020"/>
                </a:solidFill>
                <a:latin typeface="Arial"/>
              </a:rPr>
              <a:t> 22h</a:t>
            </a:r>
          </a:p>
          <a:p>
            <a:pPr algn="l"/>
            <a:endParaRPr sz="1800" dirty="0">
              <a:solidFill>
                <a:srgbClr val="202020"/>
              </a:solidFill>
              <a:latin typeface="Arial"/>
            </a:endParaRPr>
          </a:p>
          <a:p>
            <a:pPr algn="l"/>
            <a:r>
              <a:rPr sz="1800" dirty="0">
                <a:solidFill>
                  <a:srgbClr val="202020"/>
                </a:solidFill>
                <a:latin typeface="Arial"/>
              </a:rPr>
              <a:t>Prof. Dr. Gilvan Veras</a:t>
            </a:r>
          </a:p>
          <a:p>
            <a:pPr algn="l"/>
            <a:r>
              <a:rPr sz="1800" dirty="0">
                <a:solidFill>
                  <a:srgbClr val="202020"/>
                </a:solidFill>
                <a:latin typeface="Arial"/>
              </a:rPr>
              <a:t>gilvanveras@ufpi.edu.br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Apresentação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/>
          <a:lstStyle/>
          <a:p>
            <a:r>
              <a:rPr sz="1800" dirty="0">
                <a:solidFill>
                  <a:srgbClr val="202020"/>
                </a:solidFill>
                <a:latin typeface="Arial"/>
              </a:rPr>
              <a:t>Prof. Dr. Gilvan Veras: </a:t>
            </a:r>
            <a:r>
              <a:rPr sz="1800" dirty="0" err="1">
                <a:solidFill>
                  <a:srgbClr val="202020"/>
                </a:solidFill>
                <a:latin typeface="Arial"/>
              </a:rPr>
              <a:t>Cientista</a:t>
            </a:r>
            <a:r>
              <a:rPr sz="1800" dirty="0">
                <a:solidFill>
                  <a:srgbClr val="202020"/>
                </a:solidFill>
                <a:latin typeface="Arial"/>
              </a:rPr>
              <a:t> de Dados</a:t>
            </a:r>
          </a:p>
          <a:p>
            <a:r>
              <a:rPr sz="1800" dirty="0">
                <a:solidFill>
                  <a:srgbClr val="202020"/>
                </a:solidFill>
                <a:latin typeface="Arial"/>
              </a:rPr>
              <a:t>Contato: gilvanveras@ufpi.edu.br</a:t>
            </a:r>
          </a:p>
          <a:p>
            <a:pPr marL="114300" indent="0">
              <a:buNone/>
            </a:pPr>
            <a:endParaRPr lang="pt-BR" sz="1800" dirty="0">
              <a:solidFill>
                <a:srgbClr val="202020"/>
              </a:solidFill>
              <a:latin typeface="Arial"/>
            </a:endParaRPr>
          </a:p>
        </p:txBody>
      </p:sp>
      <p:pic>
        <p:nvPicPr>
          <p:cNvPr id="6" name="Imagem 5" descr="WhatsApp da Lu | Magazine Luiza">
            <a:extLst>
              <a:ext uri="{FF2B5EF4-FFF2-40B4-BE49-F238E27FC236}">
                <a16:creationId xmlns:a16="http://schemas.microsoft.com/office/drawing/2014/main" id="{FCEFB074-1C0E-FBF2-3990-A0066451C5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09" r="25960"/>
          <a:stretch>
            <a:fillRect/>
          </a:stretch>
        </p:blipFill>
        <p:spPr>
          <a:xfrm>
            <a:off x="4459057" y="2571749"/>
            <a:ext cx="1988127" cy="2105339"/>
          </a:xfrm>
          <a:prstGeom prst="rect">
            <a:avLst/>
          </a:prstGeom>
        </p:spPr>
      </p:pic>
      <p:pic>
        <p:nvPicPr>
          <p:cNvPr id="7" name="Imagem 6" descr="Como entrar em contato com o iFood pelo app - Olhar Digital">
            <a:extLst>
              <a:ext uri="{FF2B5EF4-FFF2-40B4-BE49-F238E27FC236}">
                <a16:creationId xmlns:a16="http://schemas.microsoft.com/office/drawing/2014/main" id="{D0262C77-8545-6C2F-21A1-FAB7774B54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919" t="28541" r="32222" b="31773"/>
          <a:stretch>
            <a:fillRect/>
          </a:stretch>
        </p:blipFill>
        <p:spPr>
          <a:xfrm>
            <a:off x="6798367" y="2571750"/>
            <a:ext cx="1934153" cy="1204078"/>
          </a:xfrm>
          <a:prstGeom prst="rect">
            <a:avLst/>
          </a:prstGeom>
        </p:spPr>
      </p:pic>
      <p:pic>
        <p:nvPicPr>
          <p:cNvPr id="8" name="Imagem 7" descr="Como usar a tradução ao vivo para chamadas telefônicas com Galaxy AI |  Samsung BR">
            <a:extLst>
              <a:ext uri="{FF2B5EF4-FFF2-40B4-BE49-F238E27FC236}">
                <a16:creationId xmlns:a16="http://schemas.microsoft.com/office/drawing/2014/main" id="{67913466-D388-9CD4-890B-495015CAD5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91" r="4906"/>
          <a:stretch>
            <a:fillRect/>
          </a:stretch>
        </p:blipFill>
        <p:spPr>
          <a:xfrm>
            <a:off x="1325880" y="2571750"/>
            <a:ext cx="2781994" cy="210533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3E33F3-CD90-54B7-3433-6A2E7CE8C7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</a:t>
            </a:fld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6C01A-E468-61CF-BB34-894FD23A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928B-C5B2-3DBC-297F-C3BE517B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lang="pt-BR" dirty="0">
                <a:solidFill>
                  <a:srgbClr val="202020"/>
                </a:solidFill>
                <a:latin typeface="Arial"/>
              </a:rPr>
              <a:t>Referências</a:t>
            </a:r>
            <a:endParaRPr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F7DD9-37A7-58CA-DE83-282C49509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3893127" cy="3174076"/>
          </a:xfrm>
        </p:spPr>
        <p:txBody>
          <a:bodyPr wrap="square">
            <a:noAutofit/>
          </a:bodyPr>
          <a:lstStyle/>
          <a:p>
            <a:r>
              <a:rPr lang="pt-BR" sz="1050" dirty="0">
                <a:solidFill>
                  <a:srgbClr val="202020"/>
                </a:solidFill>
                <a:latin typeface="Arial"/>
              </a:rPr>
              <a:t>HUYEN, Chip.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Designing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Machine Learning Systems: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An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Iterative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Process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for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Production-Ready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Applications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. O'Reilly Media, 2022.</a:t>
            </a:r>
          </a:p>
          <a:p>
            <a:r>
              <a:rPr lang="pt-BR" sz="1050" dirty="0">
                <a:solidFill>
                  <a:srgbClr val="202020"/>
                </a:solidFill>
                <a:latin typeface="Arial"/>
              </a:rPr>
              <a:t>BURKOV, Andriy. Machine Learning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Engineering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.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True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Positive Inc., 2020.</a:t>
            </a:r>
          </a:p>
          <a:p>
            <a:r>
              <a:rPr lang="pt-BR" sz="1050" dirty="0">
                <a:solidFill>
                  <a:srgbClr val="202020"/>
                </a:solidFill>
                <a:latin typeface="Arial"/>
              </a:rPr>
              <a:t>GIFT, Noah; DEZA, Alfredo.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Practical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MLOps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: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Operationalizing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Machine Learning Models. O'Reilly Media, 2021.</a:t>
            </a:r>
          </a:p>
          <a:p>
            <a:r>
              <a:rPr lang="pt-BR" sz="1050" dirty="0">
                <a:solidFill>
                  <a:srgbClr val="202020"/>
                </a:solidFill>
                <a:latin typeface="Arial"/>
              </a:rPr>
              <a:t>TREVEIL, Mark et al.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Introducing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MLOps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: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How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to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Scale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Machine Learning in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the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Enterprise. O'Reilly Media, 2020.</a:t>
            </a:r>
          </a:p>
          <a:p>
            <a:r>
              <a:rPr lang="pt-BR" sz="1050" dirty="0">
                <a:solidFill>
                  <a:srgbClr val="202020"/>
                </a:solidFill>
                <a:latin typeface="Arial"/>
              </a:rPr>
              <a:t>LAKSHMANAN,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Valliappa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; ROBINSON, Sara; MUNN, Michael. Machine Learning Design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Patterns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. O'Reilly Media, 2020.</a:t>
            </a:r>
          </a:p>
          <a:p>
            <a:r>
              <a:rPr lang="pt-BR" sz="1050" dirty="0">
                <a:solidFill>
                  <a:srgbClr val="202020"/>
                </a:solidFill>
                <a:latin typeface="Arial"/>
              </a:rPr>
              <a:t>SOH, Julian; SINGH,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Priyanshi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. Data Science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Solutions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on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Azure: Tools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and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Techniques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Using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Databricks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and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MLOps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. </a:t>
            </a:r>
            <a:r>
              <a:rPr lang="pt-BR" sz="1050" dirty="0" err="1">
                <a:solidFill>
                  <a:srgbClr val="202020"/>
                </a:solidFill>
                <a:latin typeface="Arial"/>
              </a:rPr>
              <a:t>Apress</a:t>
            </a:r>
            <a:r>
              <a:rPr lang="pt-BR" sz="1050" dirty="0">
                <a:solidFill>
                  <a:srgbClr val="202020"/>
                </a:solidFill>
                <a:latin typeface="Arial"/>
              </a:rPr>
              <a:t>, 2020.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1DE3DEB-ABAF-B3C4-6FD5-E3310ED3698C}"/>
              </a:ext>
            </a:extLst>
          </p:cNvPr>
          <p:cNvSpPr txBox="1">
            <a:spLocks/>
          </p:cNvSpPr>
          <p:nvPr/>
        </p:nvSpPr>
        <p:spPr>
          <a:xfrm>
            <a:off x="4839393" y="1280160"/>
            <a:ext cx="3893127" cy="317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050" dirty="0">
                <a:solidFill>
                  <a:srgbClr val="202020"/>
                </a:solidFill>
              </a:rPr>
              <a:t>ML-OPS.ORG. Princípios, fluxos de trabalho e arquiteturas de referência de </a:t>
            </a:r>
            <a:r>
              <a:rPr lang="pt-BR" sz="1050" dirty="0" err="1">
                <a:solidFill>
                  <a:srgbClr val="202020"/>
                </a:solidFill>
              </a:rPr>
              <a:t>MLOps</a:t>
            </a:r>
            <a:r>
              <a:rPr lang="pt-BR" sz="1050" dirty="0">
                <a:solidFill>
                  <a:srgbClr val="202020"/>
                </a:solidFill>
              </a:rPr>
              <a:t>.</a:t>
            </a:r>
          </a:p>
          <a:p>
            <a:r>
              <a:rPr lang="pt-BR" sz="1050" dirty="0">
                <a:solidFill>
                  <a:srgbClr val="202020"/>
                </a:solidFill>
              </a:rPr>
              <a:t>GRIGOREV, Alexey et al. </a:t>
            </a:r>
            <a:r>
              <a:rPr lang="pt-BR" sz="1050" dirty="0" err="1">
                <a:solidFill>
                  <a:srgbClr val="202020"/>
                </a:solidFill>
              </a:rPr>
              <a:t>MLOps</a:t>
            </a:r>
            <a:r>
              <a:rPr lang="pt-BR" sz="1050" dirty="0">
                <a:solidFill>
                  <a:srgbClr val="202020"/>
                </a:solidFill>
              </a:rPr>
              <a:t> </a:t>
            </a:r>
            <a:r>
              <a:rPr lang="pt-BR" sz="1050" dirty="0" err="1">
                <a:solidFill>
                  <a:srgbClr val="202020"/>
                </a:solidFill>
              </a:rPr>
              <a:t>Zoomcamp</a:t>
            </a:r>
            <a:r>
              <a:rPr lang="pt-BR" sz="1050" dirty="0">
                <a:solidFill>
                  <a:srgbClr val="202020"/>
                </a:solidFill>
              </a:rPr>
              <a:t>. </a:t>
            </a:r>
            <a:r>
              <a:rPr lang="pt-BR" sz="1050" dirty="0" err="1">
                <a:solidFill>
                  <a:srgbClr val="202020"/>
                </a:solidFill>
              </a:rPr>
              <a:t>DataTalks.Club</a:t>
            </a:r>
            <a:r>
              <a:rPr lang="pt-BR" sz="1050" dirty="0">
                <a:solidFill>
                  <a:srgbClr val="202020"/>
                </a:solidFill>
              </a:rPr>
              <a:t>. https://github.com/DataTalksClub/mlops-zoomcamp</a:t>
            </a:r>
          </a:p>
          <a:p>
            <a:r>
              <a:rPr lang="pt-BR" sz="1050" dirty="0">
                <a:solidFill>
                  <a:srgbClr val="202020"/>
                </a:solidFill>
              </a:rPr>
              <a:t>FMIND. </a:t>
            </a:r>
            <a:r>
              <a:rPr lang="pt-BR" sz="1050" dirty="0" err="1">
                <a:solidFill>
                  <a:srgbClr val="202020"/>
                </a:solidFill>
              </a:rPr>
              <a:t>MLOps</a:t>
            </a:r>
            <a:r>
              <a:rPr lang="pt-BR" sz="1050" dirty="0">
                <a:solidFill>
                  <a:srgbClr val="202020"/>
                </a:solidFill>
              </a:rPr>
              <a:t> </a:t>
            </a:r>
            <a:r>
              <a:rPr lang="pt-BR" sz="1050" dirty="0" err="1">
                <a:solidFill>
                  <a:srgbClr val="202020"/>
                </a:solidFill>
              </a:rPr>
              <a:t>Coding</a:t>
            </a:r>
            <a:r>
              <a:rPr lang="pt-BR" sz="1050" dirty="0">
                <a:solidFill>
                  <a:srgbClr val="202020"/>
                </a:solidFill>
              </a:rPr>
              <a:t> </a:t>
            </a:r>
            <a:r>
              <a:rPr lang="pt-BR" sz="1050" dirty="0" err="1">
                <a:solidFill>
                  <a:srgbClr val="202020"/>
                </a:solidFill>
              </a:rPr>
              <a:t>Course</a:t>
            </a:r>
            <a:r>
              <a:rPr lang="pt-BR" sz="1050" dirty="0">
                <a:solidFill>
                  <a:srgbClr val="202020"/>
                </a:solidFill>
              </a:rPr>
              <a:t>. https://mlops-coding-course.fmind.dev/</a:t>
            </a:r>
          </a:p>
          <a:p>
            <a:r>
              <a:rPr lang="pt-BR" sz="1050" dirty="0">
                <a:solidFill>
                  <a:srgbClr val="202020"/>
                </a:solidFill>
              </a:rPr>
              <a:t>Documentação oficial do </a:t>
            </a:r>
            <a:r>
              <a:rPr lang="pt-BR" sz="1050" dirty="0" err="1">
                <a:solidFill>
                  <a:srgbClr val="202020"/>
                </a:solidFill>
              </a:rPr>
              <a:t>MLflow</a:t>
            </a:r>
            <a:r>
              <a:rPr lang="pt-BR" sz="1050" dirty="0">
                <a:solidFill>
                  <a:srgbClr val="202020"/>
                </a:solidFill>
              </a:rPr>
              <a:t>. https://mlflow.org/docs/latest/</a:t>
            </a:r>
          </a:p>
          <a:p>
            <a:r>
              <a:rPr lang="pt-BR" sz="1050" dirty="0">
                <a:solidFill>
                  <a:srgbClr val="202020"/>
                </a:solidFill>
              </a:rPr>
              <a:t>Documentação oficial do DVC. https://dvc.org/doc</a:t>
            </a:r>
          </a:p>
          <a:p>
            <a:r>
              <a:rPr lang="pt-BR" sz="1050" dirty="0">
                <a:solidFill>
                  <a:srgbClr val="202020"/>
                </a:solidFill>
              </a:rPr>
              <a:t>Documentação oficial do </a:t>
            </a:r>
            <a:r>
              <a:rPr lang="pt-BR" sz="1050" dirty="0" err="1">
                <a:solidFill>
                  <a:srgbClr val="202020"/>
                </a:solidFill>
              </a:rPr>
              <a:t>FastAPI</a:t>
            </a:r>
            <a:r>
              <a:rPr lang="pt-BR" sz="1050" dirty="0">
                <a:solidFill>
                  <a:srgbClr val="202020"/>
                </a:solidFill>
              </a:rPr>
              <a:t>. https://fastapi.tiangolo.com/</a:t>
            </a:r>
          </a:p>
          <a:p>
            <a:r>
              <a:rPr lang="pt-BR" sz="1050" dirty="0">
                <a:solidFill>
                  <a:srgbClr val="202020"/>
                </a:solidFill>
              </a:rPr>
              <a:t>Documentação oficial do GitHub </a:t>
            </a:r>
            <a:r>
              <a:rPr lang="pt-BR" sz="1050" dirty="0" err="1">
                <a:solidFill>
                  <a:srgbClr val="202020"/>
                </a:solidFill>
              </a:rPr>
              <a:t>Actions</a:t>
            </a:r>
            <a:r>
              <a:rPr lang="pt-BR" sz="1050" dirty="0">
                <a:solidFill>
                  <a:srgbClr val="202020"/>
                </a:solidFill>
              </a:rPr>
              <a:t>. https://docs.github.com/actions</a:t>
            </a:r>
          </a:p>
          <a:p>
            <a:r>
              <a:rPr lang="pt-BR" sz="1050" dirty="0">
                <a:solidFill>
                  <a:srgbClr val="202020"/>
                </a:solidFill>
              </a:rPr>
              <a:t>Documentação oficial do </a:t>
            </a:r>
            <a:r>
              <a:rPr lang="pt-BR" sz="1050" dirty="0" err="1">
                <a:solidFill>
                  <a:srgbClr val="202020"/>
                </a:solidFill>
              </a:rPr>
              <a:t>Evidently</a:t>
            </a:r>
            <a:r>
              <a:rPr lang="pt-BR" sz="1050" dirty="0">
                <a:solidFill>
                  <a:srgbClr val="202020"/>
                </a:solidFill>
              </a:rPr>
              <a:t> AI. https://docs.evidentlyai.com/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C36347A-CD56-C091-3418-22623202AA64}"/>
              </a:ext>
            </a:extLst>
          </p:cNvPr>
          <p:cNvSpPr txBox="1"/>
          <p:nvPr/>
        </p:nvSpPr>
        <p:spPr>
          <a:xfrm>
            <a:off x="1325880" y="1042416"/>
            <a:ext cx="351351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400" b="1" dirty="0">
                <a:solidFill>
                  <a:srgbClr val="1F1F1F"/>
                </a:solidFill>
                <a:latin typeface="Arial"/>
              </a:rPr>
              <a:t>Livros</a:t>
            </a:r>
            <a:endParaRPr sz="14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634D15B-974D-737D-13EF-177F5FCDF2CE}"/>
              </a:ext>
            </a:extLst>
          </p:cNvPr>
          <p:cNvSpPr txBox="1"/>
          <p:nvPr/>
        </p:nvSpPr>
        <p:spPr>
          <a:xfrm>
            <a:off x="5036127" y="1042416"/>
            <a:ext cx="351351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400" b="1" dirty="0">
                <a:solidFill>
                  <a:srgbClr val="1F1F1F"/>
                </a:solidFill>
                <a:latin typeface="Arial"/>
              </a:rPr>
              <a:t>Sites e Documentações</a:t>
            </a:r>
            <a:endParaRPr sz="14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C5DD55F0-8CA1-09D4-1211-E56C4FD634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93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Agenda do sábado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 dirty="0" err="1">
                <a:solidFill>
                  <a:srgbClr val="202020"/>
                </a:solidFill>
                <a:latin typeface="Arial"/>
              </a:rPr>
              <a:t>Unidade</a:t>
            </a:r>
            <a:r>
              <a:rPr sz="1600" dirty="0">
                <a:solidFill>
                  <a:srgbClr val="202020"/>
                </a:solidFill>
                <a:latin typeface="Arial"/>
              </a:rPr>
              <a:t> 1 (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Fundamentos</a:t>
            </a:r>
            <a:r>
              <a:rPr sz="1600" dirty="0">
                <a:solidFill>
                  <a:srgbClr val="202020"/>
                </a:solidFill>
                <a:latin typeface="Arial"/>
              </a:rPr>
              <a:t>, Ambientes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Reprodutíveis</a:t>
            </a:r>
            <a:r>
              <a:rPr sz="1600" dirty="0">
                <a:solidFill>
                  <a:srgbClr val="202020"/>
                </a:solidFill>
                <a:latin typeface="Arial"/>
              </a:rPr>
              <a:t>, Git e DVC).</a:t>
            </a:r>
            <a:endParaRPr lang="pt-BR" sz="1600" dirty="0">
              <a:solidFill>
                <a:srgbClr val="202020"/>
              </a:solidFill>
              <a:latin typeface="Arial"/>
            </a:endParaRPr>
          </a:p>
          <a:p>
            <a:pPr lvl="1"/>
            <a:r>
              <a:rPr lang="pt-BR" sz="1200" dirty="0">
                <a:solidFill>
                  <a:srgbClr val="202020"/>
                </a:solidFill>
              </a:rPr>
              <a:t>14h30 às 17h00.</a:t>
            </a:r>
            <a:endParaRPr sz="1200" dirty="0">
              <a:solidFill>
                <a:srgbClr val="202020"/>
              </a:solidFill>
              <a:latin typeface="Arial"/>
            </a:endParaRPr>
          </a:p>
          <a:p>
            <a:r>
              <a:rPr lang="pt-BR" sz="1600" dirty="0">
                <a:solidFill>
                  <a:srgbClr val="202020"/>
                </a:solidFill>
              </a:rPr>
              <a:t>Intervalo</a:t>
            </a:r>
          </a:p>
          <a:p>
            <a:pPr lvl="1"/>
            <a:r>
              <a:rPr sz="1200" dirty="0">
                <a:solidFill>
                  <a:srgbClr val="202020"/>
                </a:solidFill>
                <a:latin typeface="Arial"/>
              </a:rPr>
              <a:t>17h00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às</a:t>
            </a:r>
            <a:r>
              <a:rPr sz="1200" dirty="0">
                <a:solidFill>
                  <a:srgbClr val="202020"/>
                </a:solidFill>
                <a:latin typeface="Arial"/>
              </a:rPr>
              <a:t> 17h15.</a:t>
            </a:r>
          </a:p>
          <a:p>
            <a:r>
              <a:rPr lang="pt-BR" sz="1600" dirty="0">
                <a:solidFill>
                  <a:srgbClr val="202020"/>
                </a:solidFill>
              </a:rPr>
              <a:t>Unidade 2 (</a:t>
            </a:r>
            <a:r>
              <a:rPr lang="pt-BR" sz="1600" dirty="0" err="1">
                <a:solidFill>
                  <a:srgbClr val="202020"/>
                </a:solidFill>
              </a:rPr>
              <a:t>MLflow</a:t>
            </a:r>
            <a:r>
              <a:rPr lang="pt-BR" sz="1600" dirty="0">
                <a:solidFill>
                  <a:srgbClr val="202020"/>
                </a:solidFill>
              </a:rPr>
              <a:t> Tracking, Registry, Pipelines reprodutíveis).</a:t>
            </a:r>
          </a:p>
          <a:p>
            <a:pPr lvl="1"/>
            <a:r>
              <a:rPr sz="1200" dirty="0">
                <a:solidFill>
                  <a:srgbClr val="202020"/>
                </a:solidFill>
                <a:latin typeface="Arial"/>
              </a:rPr>
              <a:t>17h15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às</a:t>
            </a:r>
            <a:r>
              <a:rPr sz="1200" dirty="0">
                <a:solidFill>
                  <a:srgbClr val="202020"/>
                </a:solidFill>
                <a:latin typeface="Arial"/>
              </a:rPr>
              <a:t> 20h10</a:t>
            </a:r>
            <a:r>
              <a:rPr lang="pt-BR" sz="1200" dirty="0">
                <a:solidFill>
                  <a:srgbClr val="202020"/>
                </a:solidFill>
                <a:latin typeface="Arial"/>
              </a:rPr>
              <a:t>.</a:t>
            </a:r>
            <a:endParaRPr sz="1200" dirty="0">
              <a:solidFill>
                <a:srgbClr val="202020"/>
              </a:solidFill>
              <a:latin typeface="Arial"/>
            </a:endParaRPr>
          </a:p>
          <a:p>
            <a:r>
              <a:rPr lang="pt-BR" sz="1600" dirty="0">
                <a:solidFill>
                  <a:srgbClr val="202020"/>
                </a:solidFill>
              </a:rPr>
              <a:t>I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ntervalo</a:t>
            </a:r>
            <a:r>
              <a:rPr sz="1600" dirty="0">
                <a:solidFill>
                  <a:srgbClr val="202020"/>
                </a:solidFill>
                <a:latin typeface="Arial"/>
              </a:rPr>
              <a:t>.</a:t>
            </a:r>
            <a:endParaRPr lang="pt-BR" sz="1600" dirty="0">
              <a:solidFill>
                <a:srgbClr val="202020"/>
              </a:solidFill>
              <a:latin typeface="Arial"/>
            </a:endParaRPr>
          </a:p>
          <a:p>
            <a:pPr lvl="1"/>
            <a:r>
              <a:rPr lang="pt-BR" sz="1200" dirty="0">
                <a:solidFill>
                  <a:srgbClr val="202020"/>
                </a:solidFill>
              </a:rPr>
              <a:t>20h10 às 20h25.</a:t>
            </a:r>
            <a:endParaRPr sz="1200" dirty="0">
              <a:solidFill>
                <a:srgbClr val="202020"/>
              </a:solidFill>
              <a:latin typeface="Arial"/>
            </a:endParaRP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Unidade</a:t>
            </a:r>
            <a:r>
              <a:rPr sz="1600" dirty="0">
                <a:solidFill>
                  <a:srgbClr val="202020"/>
                </a:solidFill>
                <a:latin typeface="Arial"/>
              </a:rPr>
              <a:t> 3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Parte</a:t>
            </a:r>
            <a:r>
              <a:rPr sz="1600" dirty="0">
                <a:solidFill>
                  <a:srgbClr val="202020"/>
                </a:solidFill>
                <a:latin typeface="Arial"/>
              </a:rPr>
              <a:t> 1 (Serving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FastAPI</a:t>
            </a:r>
            <a:r>
              <a:rPr sz="1600" dirty="0">
                <a:solidFill>
                  <a:srgbClr val="202020"/>
                </a:solidFill>
                <a:latin typeface="Arial"/>
              </a:rPr>
              <a:t> e Containers).</a:t>
            </a:r>
            <a:endParaRPr lang="pt-BR" sz="1600" dirty="0">
              <a:solidFill>
                <a:srgbClr val="202020"/>
              </a:solidFill>
              <a:latin typeface="Arial"/>
            </a:endParaRPr>
          </a:p>
          <a:p>
            <a:pPr lvl="1"/>
            <a:r>
              <a:rPr lang="pt-BR" sz="1200" dirty="0">
                <a:solidFill>
                  <a:srgbClr val="202020"/>
                </a:solidFill>
              </a:rPr>
              <a:t>20h25 às 22h00.</a:t>
            </a:r>
            <a:endParaRPr sz="120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6910683-622E-DBA2-8C92-4D9BE5B958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Stack do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1309878"/>
            <a:ext cx="3063240" cy="50292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/>
            <a:r>
              <a:rPr sz="1400" dirty="0">
                <a:solidFill>
                  <a:srgbClr val="202020"/>
                </a:solidFill>
                <a:latin typeface="Arial"/>
              </a:rPr>
              <a:t>Python 3.11,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gerido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uv</a:t>
            </a:r>
            <a:r>
              <a:rPr sz="14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309878"/>
            <a:ext cx="3063240" cy="50292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/>
            <a:r>
              <a:rPr sz="1400">
                <a:solidFill>
                  <a:srgbClr val="202020"/>
                </a:solidFill>
                <a:latin typeface="Arial"/>
              </a:rPr>
              <a:t>uv: ambientes e dependências (Astral).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63674"/>
            <a:ext cx="3063240" cy="50292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/>
            <a:r>
              <a:rPr sz="1400">
                <a:solidFill>
                  <a:srgbClr val="202020"/>
                </a:solidFill>
                <a:latin typeface="Arial"/>
              </a:rPr>
              <a:t>Git: versionamento de código.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963674"/>
            <a:ext cx="3063240" cy="50292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/>
            <a:r>
              <a:rPr sz="1400">
                <a:solidFill>
                  <a:srgbClr val="202020"/>
                </a:solidFill>
                <a:latin typeface="Arial"/>
              </a:rPr>
              <a:t>DVC: versionamento de dados e modelos.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617470"/>
            <a:ext cx="3063240" cy="50292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/>
            <a:r>
              <a:rPr sz="1400">
                <a:solidFill>
                  <a:srgbClr val="202020"/>
                </a:solidFill>
                <a:latin typeface="Arial"/>
              </a:rPr>
              <a:t>MLflow 3.x: tracking e registry.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617470"/>
            <a:ext cx="3063240" cy="50292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/>
            <a:r>
              <a:rPr sz="1400">
                <a:solidFill>
                  <a:srgbClr val="202020"/>
                </a:solidFill>
                <a:latin typeface="Arial"/>
              </a:rPr>
              <a:t>FastAPI + Uvicorn: serving HTTP.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271266"/>
            <a:ext cx="3063240" cy="50292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/>
            <a:r>
              <a:rPr sz="1400">
                <a:solidFill>
                  <a:srgbClr val="202020"/>
                </a:solidFill>
                <a:latin typeface="Arial"/>
              </a:rPr>
              <a:t>Docker multi-stage: empacotamento.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271266"/>
            <a:ext cx="3063240" cy="50292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/>
            <a:r>
              <a:rPr sz="1400">
                <a:solidFill>
                  <a:srgbClr val="202020"/>
                </a:solidFill>
                <a:latin typeface="Arial"/>
              </a:rPr>
              <a:t>GitHub Actions: CI/CD do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925062"/>
            <a:ext cx="3063240" cy="50292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/>
            <a:r>
              <a:rPr sz="1400">
                <a:solidFill>
                  <a:srgbClr val="202020"/>
                </a:solidFill>
                <a:latin typeface="Arial"/>
              </a:rPr>
              <a:t>Evidently AI: drift e monitoramento.</a:t>
            </a:r>
          </a:p>
        </p:txBody>
      </p:sp>
      <p:pic>
        <p:nvPicPr>
          <p:cNvPr id="22" name="Picture 21" descr="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09878"/>
            <a:ext cx="502920" cy="502920"/>
          </a:xfrm>
          <a:prstGeom prst="rect">
            <a:avLst/>
          </a:prstGeom>
        </p:spPr>
      </p:pic>
      <p:pic>
        <p:nvPicPr>
          <p:cNvPr id="23" name="Picture 22" descr="u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09878"/>
            <a:ext cx="502920" cy="502920"/>
          </a:xfrm>
          <a:prstGeom prst="rect">
            <a:avLst/>
          </a:prstGeom>
        </p:spPr>
      </p:pic>
      <p:pic>
        <p:nvPicPr>
          <p:cNvPr id="24" name="Picture 23" descr="g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963674"/>
            <a:ext cx="502920" cy="502920"/>
          </a:xfrm>
          <a:prstGeom prst="rect">
            <a:avLst/>
          </a:prstGeom>
        </p:spPr>
      </p:pic>
      <p:pic>
        <p:nvPicPr>
          <p:cNvPr id="25" name="Picture 24" descr="dv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963674"/>
            <a:ext cx="502920" cy="502920"/>
          </a:xfrm>
          <a:prstGeom prst="rect">
            <a:avLst/>
          </a:prstGeom>
        </p:spPr>
      </p:pic>
      <p:pic>
        <p:nvPicPr>
          <p:cNvPr id="26" name="Picture 25" descr="mlfl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2617470"/>
            <a:ext cx="502920" cy="502920"/>
          </a:xfrm>
          <a:prstGeom prst="rect">
            <a:avLst/>
          </a:prstGeom>
        </p:spPr>
      </p:pic>
      <p:pic>
        <p:nvPicPr>
          <p:cNvPr id="27" name="Picture 26" descr="fasta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617470"/>
            <a:ext cx="502920" cy="502920"/>
          </a:xfrm>
          <a:prstGeom prst="rect">
            <a:avLst/>
          </a:prstGeom>
        </p:spPr>
      </p:pic>
      <p:pic>
        <p:nvPicPr>
          <p:cNvPr id="28" name="Picture 27" descr="dock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3271266"/>
            <a:ext cx="502920" cy="502920"/>
          </a:xfrm>
          <a:prstGeom prst="rect">
            <a:avLst/>
          </a:prstGeom>
        </p:spPr>
      </p:pic>
      <p:pic>
        <p:nvPicPr>
          <p:cNvPr id="29" name="Picture 28" descr="gh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271266"/>
            <a:ext cx="502920" cy="502920"/>
          </a:xfrm>
          <a:prstGeom prst="rect">
            <a:avLst/>
          </a:prstGeom>
        </p:spPr>
      </p:pic>
      <p:pic>
        <p:nvPicPr>
          <p:cNvPr id="30" name="Picture 29" descr="evidentl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0" y="3925062"/>
            <a:ext cx="502920" cy="50292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CC88F38-AEAC-FCE4-ABC0-02B70AF9B8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D140-BC87-F56A-9AED-EFDB0696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7C14-AF3F-A61A-2077-DFF98E100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>
                <a:solidFill>
                  <a:srgbClr val="202020"/>
                </a:solidFill>
                <a:latin typeface="Arial"/>
              </a:rPr>
              <a:t>Configure e </a:t>
            </a:r>
            <a:r>
              <a:rPr dirty="0" err="1">
                <a:solidFill>
                  <a:srgbClr val="202020"/>
                </a:solidFill>
                <a:latin typeface="Arial"/>
              </a:rPr>
              <a:t>valide</a:t>
            </a:r>
            <a:r>
              <a:rPr dirty="0">
                <a:solidFill>
                  <a:srgbClr val="202020"/>
                </a:solidFill>
                <a:latin typeface="Arial"/>
              </a:rPr>
              <a:t> </a:t>
            </a:r>
            <a:r>
              <a:rPr dirty="0" err="1">
                <a:solidFill>
                  <a:srgbClr val="202020"/>
                </a:solidFill>
                <a:latin typeface="Arial"/>
              </a:rPr>
              <a:t>sua</a:t>
            </a:r>
            <a:r>
              <a:rPr dirty="0">
                <a:solidFill>
                  <a:srgbClr val="202020"/>
                </a:solidFill>
                <a:latin typeface="Arial"/>
              </a:rPr>
              <a:t>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AC388-5E42-8748-27A7-51D4A87DC179}"/>
              </a:ext>
            </a:extLst>
          </p:cNvPr>
          <p:cNvSpPr txBox="1"/>
          <p:nvPr/>
        </p:nvSpPr>
        <p:spPr>
          <a:xfrm>
            <a:off x="1325880" y="1042416"/>
            <a:ext cx="200696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dirty="0">
                <a:solidFill>
                  <a:srgbClr val="1F1F1F"/>
                </a:solidFill>
                <a:latin typeface="Arial"/>
              </a:rPr>
              <a:t>Instalar </a:t>
            </a:r>
            <a:r>
              <a:rPr lang="pt-BR" sz="1400" b="1" dirty="0" err="1">
                <a:solidFill>
                  <a:srgbClr val="1F1F1F"/>
                </a:solidFill>
                <a:latin typeface="Arial"/>
              </a:rPr>
              <a:t>gh</a:t>
            </a:r>
            <a:r>
              <a:rPr lang="pt-BR" sz="1400" b="1" dirty="0">
                <a:solidFill>
                  <a:srgbClr val="1F1F1F"/>
                </a:solidFill>
                <a:latin typeface="Arial"/>
              </a:rPr>
              <a:t> no Windows</a:t>
            </a:r>
            <a:endParaRPr sz="14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4EF725-ED22-C65D-F6C1-F8983D913C33}"/>
              </a:ext>
            </a:extLst>
          </p:cNvPr>
          <p:cNvSpPr/>
          <p:nvPr/>
        </p:nvSpPr>
        <p:spPr>
          <a:xfrm>
            <a:off x="1325880" y="1335024"/>
            <a:ext cx="7406640" cy="553772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pPr algn="l"/>
            <a:r>
              <a:rPr lang="pt-BR" sz="1100" dirty="0">
                <a:solidFill>
                  <a:srgbClr val="222222"/>
                </a:solidFill>
                <a:latin typeface="Consolas"/>
              </a:rPr>
              <a:t># Windows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cmd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winget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install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gh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--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accept-package-agreements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9C0743-368E-F76B-751E-150D391A1C14}"/>
              </a:ext>
            </a:extLst>
          </p:cNvPr>
          <p:cNvSpPr txBox="1"/>
          <p:nvPr/>
        </p:nvSpPr>
        <p:spPr>
          <a:xfrm>
            <a:off x="1325880" y="1965960"/>
            <a:ext cx="169758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dirty="0">
                <a:solidFill>
                  <a:srgbClr val="1F1F1F"/>
                </a:solidFill>
                <a:latin typeface="Arial"/>
              </a:rPr>
              <a:t>Instalar </a:t>
            </a:r>
            <a:r>
              <a:rPr lang="pt-BR" sz="1400" b="1" dirty="0" err="1">
                <a:solidFill>
                  <a:srgbClr val="1F1F1F"/>
                </a:solidFill>
                <a:latin typeface="Arial"/>
              </a:rPr>
              <a:t>gh</a:t>
            </a:r>
            <a:r>
              <a:rPr lang="pt-BR" sz="1400" b="1" dirty="0">
                <a:solidFill>
                  <a:srgbClr val="1F1F1F"/>
                </a:solidFill>
                <a:latin typeface="Arial"/>
              </a:rPr>
              <a:t> no Linux</a:t>
            </a:r>
            <a:endParaRPr sz="14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51BE2B4-92E1-6388-089E-24ABDA618B7E}"/>
              </a:ext>
            </a:extLst>
          </p:cNvPr>
          <p:cNvSpPr/>
          <p:nvPr/>
        </p:nvSpPr>
        <p:spPr>
          <a:xfrm>
            <a:off x="1325880" y="2261333"/>
            <a:ext cx="7406640" cy="2095921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# Linux terminal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sudo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mkdir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-p 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etc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apt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keyrings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&amp;&amp; \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chmod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0755 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etc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apt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keyrings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&amp;&amp; \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wget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-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qO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- https://github.com |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sudo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tee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etc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apt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keyrings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githubcli-archive-keyring.gpg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&gt; 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dev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null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&amp;&amp; \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sudo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chmod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go+r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etc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apt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keyrings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githubcli-archive-keyring.gpg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&amp;&amp; \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echo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"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deb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[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arch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=$(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dpkg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--print-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architecture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)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signed-by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=/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etc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apt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keyrings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githubcli-archive-keyring.gpg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] https://github.com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stable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main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" |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sudo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tee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etc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apt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sources.list.d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/github-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cli.list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&gt; 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dev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null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&amp;&amp; \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sudo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apt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update &amp;&amp; \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sudo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apt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install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gh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-y</a:t>
            </a:r>
            <a:endParaRPr sz="11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5F137CC-2B1A-24E8-FB09-E258C1F46F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09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Configure e valide sua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042416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1F1F1F"/>
                </a:solidFill>
                <a:latin typeface="Arial"/>
              </a:rPr>
              <a:t>Pré-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requisitos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(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instalar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uma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vez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335024"/>
            <a:ext cx="7406640" cy="921743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# Windows (PowerShell)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 err="1">
                <a:solidFill>
                  <a:srgbClr val="222222"/>
                </a:solidFill>
                <a:latin typeface="Consolas"/>
              </a:rPr>
              <a:t>irm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https://astral.sh/uv/install.ps1 |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iex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# Linux/macOS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222222"/>
                </a:solidFill>
                <a:latin typeface="Consolas"/>
              </a:rPr>
              <a:t>curl -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LsSf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https://astral.sh/uv/install.sh |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sh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# Docker Desktop, Git,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gh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CLI: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instalar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dos sites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oficiais</a:t>
            </a:r>
            <a:endParaRPr sz="11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25880" y="2403071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F1F1F"/>
                </a:solidFill>
                <a:latin typeface="Arial"/>
              </a:rPr>
              <a:t>Validação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(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cole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na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ordem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;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falhou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?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levante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a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mão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695679"/>
            <a:ext cx="7406640" cy="1793194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--version             #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esperado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: 0.5+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python install 3.11   #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baixa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interpretador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se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faltar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run python --version  #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esperado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: 3.11.x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222222"/>
                </a:solidFill>
                <a:latin typeface="Consolas"/>
              </a:rPr>
              <a:t>git --version            #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esperado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: 2.40+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222222"/>
                </a:solidFill>
                <a:latin typeface="Consolas"/>
              </a:rPr>
              <a:t>docker --version         #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esperado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: 24+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222222"/>
                </a:solidFill>
                <a:latin typeface="Consolas"/>
              </a:rPr>
              <a:t>docker compose version   #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esperado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: v2.20+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 err="1">
                <a:solidFill>
                  <a:srgbClr val="222222"/>
                </a:solidFill>
                <a:latin typeface="Consolas"/>
              </a:rPr>
              <a:t>gh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--version             #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opcional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usaremos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no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domingo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)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run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--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version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   &amp;&amp;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echo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OK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    ||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echo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FAIL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dvc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run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--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version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&amp;&amp;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echo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OK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 ||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echo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FAIL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run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python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-c "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fastapi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uvicorn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evidently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" &amp;&amp;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echo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OK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fastapi+uvicorn+evidently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2B225F2-DFA6-9E5D-45AA-2055316BB8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t>GitHub: repo do curso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2628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6B6B"/>
                </a:solidFill>
                <a:latin typeface="Arial"/>
              </a:rPr>
              <a:t>Sem conta? Crie em github.com/signup (e-mail acadêmico) antes do passo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25880"/>
            <a:ext cx="36118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1. Autentique a CLI (uma vez)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636776"/>
            <a:ext cx="3611880" cy="1078992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 err="1">
                <a:solidFill>
                  <a:srgbClr val="222222"/>
                </a:solidFill>
                <a:latin typeface="Consolas"/>
              </a:rPr>
              <a:t>gh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auth login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 err="1">
                <a:solidFill>
                  <a:srgbClr val="222222"/>
                </a:solidFill>
                <a:latin typeface="Consolas"/>
              </a:rPr>
              <a:t>gh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auth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325880"/>
            <a:ext cx="36118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2. Configure a identidade do 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636776"/>
            <a:ext cx="3611880" cy="1078992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222222"/>
                </a:solidFill>
                <a:latin typeface="Consolas"/>
              </a:rPr>
              <a:t>git config --global user.name  "Seu Nome"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222222"/>
                </a:solidFill>
                <a:latin typeface="Consolas"/>
              </a:rPr>
              <a:t>git config --global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user.email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"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voce@email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26080"/>
            <a:ext cx="36118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3. Crie o repositório (público)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3236976"/>
            <a:ext cx="3611880" cy="1078992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padrão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: &lt;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iniciais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&gt;-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mlops-icev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 err="1">
                <a:solidFill>
                  <a:srgbClr val="222222"/>
                </a:solidFill>
                <a:latin typeface="Consolas"/>
              </a:rPr>
              <a:t>gh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repo create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gilvanvmj-mlops-icev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--public --clone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222222"/>
                </a:solidFill>
                <a:latin typeface="Consolas"/>
              </a:rPr>
              <a:t>cd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gilvanvmj-mlops-icev</a:t>
            </a:r>
            <a:endParaRPr sz="11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74920" y="2926080"/>
            <a:ext cx="36118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4. Smoke test do push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236976"/>
            <a:ext cx="3611880" cy="1078992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222222"/>
                </a:solidFill>
                <a:latin typeface="Consolas"/>
              </a:rPr>
              <a:t>echo "#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mlops-icev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" &gt; README.md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git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add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.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222222"/>
                </a:solidFill>
                <a:latin typeface="Consolas"/>
              </a:rPr>
              <a:t>git commit -am "chore: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init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"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100" dirty="0" err="1">
                <a:solidFill>
                  <a:srgbClr val="222222"/>
                </a:solidFill>
                <a:latin typeface="Consolas"/>
              </a:rPr>
              <a:t>git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branch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-M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main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100" dirty="0">
                <a:solidFill>
                  <a:srgbClr val="222222"/>
                </a:solidFill>
                <a:latin typeface="Consolas"/>
              </a:rPr>
              <a:t>git push -u origin main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305AAF4A-31A0-F68E-B3C9-C49CBB2712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011680"/>
            <a:ext cx="7406640" cy="109728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Unidade 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103AED-08EB-C327-7BD2-5B3A848C26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 sz="3400">
                <a:latin typeface="Arial"/>
              </a:rPr>
              <a:t>Do notebook à produção.</a:t>
            </a:r>
          </a:p>
          <a:p>
            <a:r>
              <a:rPr sz="3400">
                <a:latin typeface="Arial"/>
              </a:rPr>
              <a:t>E mantê-lo lá.</a:t>
            </a:r>
          </a:p>
        </p:txBody>
      </p:sp>
      <p:pic>
        <p:nvPicPr>
          <p:cNvPr id="4" name="Picture 3" descr="dev_worksp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7617E1-19DE-AC94-46FE-8BA07AEA6B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Notebook vs. Produção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Execução: manual e interativa contra automatizada e agendada.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Reprodutibilidade: na minha máquina contra bit-a-bit em qualquer ambiente.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Versionamento: quase nenhum contra código, dados, modelo e ambiente.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Teste: acurácia em hold-out contra testes de dado, código, modelo, infra.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Implantação: inexistente contra CI/CD com rollback.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Monitoramento: métricas estáticas contra métricas ao vivo e alertas.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Custo de falha: retreino manual no dia seguinte contra usuário impactado em segundos.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7E6A82-92D3-D81D-C1DE-EB9A71A989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Ciclo de vida do modelo em produção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25880" y="2297082"/>
            <a:ext cx="1417320" cy="77724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202020"/>
                </a:solidFill>
                <a:latin typeface="Arial"/>
              </a:rPr>
              <a:t>Experimento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68930" y="2297082"/>
            <a:ext cx="1417320" cy="77724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202020"/>
                </a:solidFill>
                <a:latin typeface="Arial"/>
              </a:rPr>
              <a:t>Empacotar</a:t>
            </a:r>
            <a:endParaRPr sz="1300" b="1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411980" y="2297082"/>
            <a:ext cx="1417320" cy="777240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202020"/>
                </a:solidFill>
                <a:latin typeface="Arial"/>
              </a:rPr>
              <a:t>Implantar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55030" y="2297082"/>
            <a:ext cx="1417320" cy="777240"/>
          </a:xfrm>
          <a:prstGeom prst="roundRect">
            <a:avLst/>
          </a:prstGeom>
          <a:solidFill>
            <a:srgbClr val="FCE4EC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202020"/>
                </a:solidFill>
                <a:latin typeface="Arial"/>
              </a:rPr>
              <a:t>Monitorar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0" y="2297082"/>
            <a:ext cx="1417320" cy="777240"/>
          </a:xfrm>
          <a:prstGeom prst="roundRect">
            <a:avLst/>
          </a:prstGeom>
          <a:solidFill>
            <a:srgbClr val="EDE7F6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202020"/>
                </a:solidFill>
                <a:latin typeface="Arial"/>
              </a:rPr>
              <a:t>Re-treinar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685702"/>
            <a:ext cx="125730" cy="0"/>
          </a:xfrm>
          <a:prstGeom prst="line">
            <a:avLst/>
          </a:prstGeom>
          <a:ln w="25400">
            <a:solidFill>
              <a:srgbClr val="70707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86250" y="2685702"/>
            <a:ext cx="125730" cy="0"/>
          </a:xfrm>
          <a:prstGeom prst="line">
            <a:avLst/>
          </a:prstGeom>
          <a:ln w="25400">
            <a:solidFill>
              <a:srgbClr val="70707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29300" y="2685702"/>
            <a:ext cx="125730" cy="0"/>
          </a:xfrm>
          <a:prstGeom prst="line">
            <a:avLst/>
          </a:prstGeom>
          <a:ln w="25400">
            <a:solidFill>
              <a:srgbClr val="70707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72350" y="2685702"/>
            <a:ext cx="125730" cy="0"/>
          </a:xfrm>
          <a:prstGeom prst="line">
            <a:avLst/>
          </a:prstGeom>
          <a:ln w="25400">
            <a:solidFill>
              <a:srgbClr val="70707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206740" y="1885602"/>
            <a:ext cx="0" cy="411480"/>
          </a:xfrm>
          <a:prstGeom prst="line">
            <a:avLst/>
          </a:prstGeom>
          <a:ln w="25400">
            <a:solidFill>
              <a:srgbClr val="70707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034540" y="1885602"/>
            <a:ext cx="6172200" cy="0"/>
          </a:xfrm>
          <a:prstGeom prst="line">
            <a:avLst/>
          </a:prstGeom>
          <a:ln w="25400">
            <a:solidFill>
              <a:srgbClr val="70707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34540" y="1885602"/>
            <a:ext cx="0" cy="411480"/>
          </a:xfrm>
          <a:prstGeom prst="line">
            <a:avLst/>
          </a:prstGeom>
          <a:ln w="25400">
            <a:solidFill>
              <a:srgbClr val="70707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25880" y="3394363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202020"/>
                </a:solidFill>
                <a:latin typeface="Arial"/>
              </a:rPr>
              <a:t>Loop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contínuo</a:t>
            </a:r>
            <a:r>
              <a:rPr sz="1200" dirty="0">
                <a:solidFill>
                  <a:srgbClr val="202020"/>
                </a:solidFill>
                <a:latin typeface="Arial"/>
              </a:rPr>
              <a:t>: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cada</a:t>
            </a:r>
            <a:r>
              <a:rPr sz="1200" dirty="0">
                <a:solidFill>
                  <a:srgbClr val="202020"/>
                </a:solidFill>
                <a:latin typeface="Arial"/>
              </a:rPr>
              <a:t> novo dado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ou</a:t>
            </a:r>
            <a:r>
              <a:rPr sz="1200" dirty="0">
                <a:solidFill>
                  <a:srgbClr val="20202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métrica</a:t>
            </a:r>
            <a:r>
              <a:rPr sz="12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produção</a:t>
            </a:r>
            <a:r>
              <a:rPr sz="1200" dirty="0">
                <a:solidFill>
                  <a:srgbClr val="20202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realimenta</a:t>
            </a:r>
            <a:r>
              <a:rPr sz="1200" dirty="0">
                <a:solidFill>
                  <a:srgbClr val="202020"/>
                </a:solidFill>
                <a:latin typeface="Arial"/>
              </a:rPr>
              <a:t> o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ciclo</a:t>
            </a:r>
            <a:r>
              <a:rPr sz="12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17" name="Espaço Reservado para Número de Slide 16">
            <a:extLst>
              <a:ext uri="{FF2B5EF4-FFF2-40B4-BE49-F238E27FC236}">
                <a16:creationId xmlns:a16="http://schemas.microsoft.com/office/drawing/2014/main" id="{6F3D53DA-E2BB-307B-137C-6BFE774F8F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Os três blocos da ementa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Bloco 1: Introdução ao MLOps.</a:t>
            </a:r>
          </a:p>
          <a:p>
            <a:pPr lvl="1"/>
            <a:r>
              <a:rPr sz="1600">
                <a:solidFill>
                  <a:srgbClr val="202020"/>
                </a:solidFill>
                <a:latin typeface="Arial"/>
              </a:rPr>
              <a:t>Ambientes reprodutíveis, Git + DVC, MLflow.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Bloco 2: Deploy e Automação (CI/CD).</a:t>
            </a:r>
          </a:p>
          <a:p>
            <a:pPr lvl="1"/>
            <a:r>
              <a:rPr sz="1600">
                <a:solidFill>
                  <a:srgbClr val="202020"/>
                </a:solidFill>
                <a:latin typeface="Arial"/>
              </a:rPr>
              <a:t>Model Serving, GitHub Actions, Rolling Update.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Bloco 3: Operação e Manutenção.</a:t>
            </a:r>
          </a:p>
          <a:p>
            <a:pPr lvl="1"/>
            <a:r>
              <a:rPr sz="1600">
                <a:solidFill>
                  <a:srgbClr val="202020"/>
                </a:solidFill>
                <a:latin typeface="Arial"/>
              </a:rPr>
              <a:t>Data Drift, Concept Drift, log de predições, retreinamento.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0AA047-B309-4CED-DBFE-2B46949D1B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Papéis em MLOps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999" y="1280160"/>
            <a:ext cx="7589521" cy="3223259"/>
          </a:xfrm>
        </p:spPr>
        <p:txBody>
          <a:bodyPr wrap="square"/>
          <a:lstStyle/>
          <a:p>
            <a:r>
              <a:rPr sz="1400" dirty="0">
                <a:solidFill>
                  <a:srgbClr val="202020"/>
                </a:solidFill>
                <a:latin typeface="Arial"/>
              </a:rPr>
              <a:t>Data Scientist:</a:t>
            </a:r>
          </a:p>
          <a:p>
            <a:pPr lvl="1"/>
            <a:r>
              <a:rPr sz="1400" dirty="0" err="1">
                <a:solidFill>
                  <a:srgbClr val="202020"/>
                </a:solidFill>
                <a:latin typeface="Arial"/>
              </a:rPr>
              <a:t>descobre</a:t>
            </a:r>
            <a:r>
              <a:rPr sz="1400" dirty="0">
                <a:solidFill>
                  <a:srgbClr val="202020"/>
                </a:solidFill>
                <a:latin typeface="Arial"/>
              </a:rPr>
              <a:t> o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modelo</a:t>
            </a:r>
            <a:r>
              <a:rPr sz="1400" dirty="0">
                <a:solidFill>
                  <a:srgbClr val="20202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analisa</a:t>
            </a:r>
            <a:r>
              <a:rPr sz="1400" dirty="0">
                <a:solidFill>
                  <a:srgbClr val="202020"/>
                </a:solidFill>
                <a:latin typeface="Arial"/>
              </a:rPr>
              <a:t> dados.</a:t>
            </a:r>
          </a:p>
          <a:p>
            <a:r>
              <a:rPr sz="1400" dirty="0">
                <a:solidFill>
                  <a:srgbClr val="202020"/>
                </a:solidFill>
                <a:latin typeface="Arial"/>
              </a:rPr>
              <a:t>ML Engineer:</a:t>
            </a:r>
          </a:p>
          <a:p>
            <a:pPr lvl="1"/>
            <a:r>
              <a:rPr sz="1400" dirty="0" err="1">
                <a:solidFill>
                  <a:srgbClr val="202020"/>
                </a:solidFill>
                <a:latin typeface="Arial"/>
              </a:rPr>
              <a:t>produtiza</a:t>
            </a:r>
            <a:r>
              <a:rPr sz="1400" dirty="0">
                <a:solidFill>
                  <a:srgbClr val="202020"/>
                </a:solidFill>
                <a:latin typeface="Arial"/>
              </a:rPr>
              <a:t> o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modelo</a:t>
            </a:r>
            <a:r>
              <a:rPr sz="1400" dirty="0">
                <a:solidFill>
                  <a:srgbClr val="20202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escreve</a:t>
            </a:r>
            <a:r>
              <a:rPr sz="1400" dirty="0">
                <a:solidFill>
                  <a:srgbClr val="202020"/>
                </a:solidFill>
                <a:latin typeface="Arial"/>
              </a:rPr>
              <a:t> pipelines.</a:t>
            </a:r>
            <a:endParaRPr lang="pt-BR" sz="1400" dirty="0">
              <a:solidFill>
                <a:srgbClr val="202020"/>
              </a:solidFill>
            </a:endParaRPr>
          </a:p>
          <a:p>
            <a:r>
              <a:rPr lang="pt-BR" dirty="0" err="1">
                <a:solidFill>
                  <a:srgbClr val="202020"/>
                </a:solidFill>
              </a:rPr>
              <a:t>MLOps</a:t>
            </a:r>
            <a:r>
              <a:rPr lang="pt-BR" dirty="0">
                <a:solidFill>
                  <a:srgbClr val="202020"/>
                </a:solidFill>
              </a:rPr>
              <a:t> / Platform </a:t>
            </a:r>
            <a:r>
              <a:rPr lang="pt-BR" dirty="0" err="1">
                <a:solidFill>
                  <a:srgbClr val="202020"/>
                </a:solidFill>
              </a:rPr>
              <a:t>Engineer</a:t>
            </a:r>
            <a:r>
              <a:rPr lang="pt-BR" dirty="0">
                <a:solidFill>
                  <a:srgbClr val="202020"/>
                </a:solidFill>
              </a:rPr>
              <a:t>:</a:t>
            </a:r>
          </a:p>
          <a:p>
            <a:pPr lvl="1"/>
            <a:r>
              <a:rPr lang="pt-BR" sz="1400" dirty="0">
                <a:solidFill>
                  <a:srgbClr val="202020"/>
                </a:solidFill>
              </a:rPr>
              <a:t>cuida da plataforma e da infra de ML.</a:t>
            </a:r>
          </a:p>
          <a:p>
            <a:r>
              <a:rPr lang="pt-BR" dirty="0">
                <a:solidFill>
                  <a:srgbClr val="202020"/>
                </a:solidFill>
              </a:rPr>
              <a:t>SRE:</a:t>
            </a:r>
          </a:p>
          <a:p>
            <a:pPr lvl="1"/>
            <a:r>
              <a:rPr lang="pt-BR" sz="1400" dirty="0">
                <a:solidFill>
                  <a:srgbClr val="202020"/>
                </a:solidFill>
              </a:rPr>
              <a:t>mantém o sistema rodando e responde a incidentes.</a:t>
            </a:r>
          </a:p>
          <a:p>
            <a:endParaRPr lang="pt-BR" sz="160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E0778E-B3AF-A254-CE43-339CC1239C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Ambientes reprodutíveis: três condições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 dirty="0" err="1">
                <a:solidFill>
                  <a:srgbClr val="202020"/>
                </a:solidFill>
                <a:latin typeface="Arial"/>
              </a:rPr>
              <a:t>Versão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exata</a:t>
            </a:r>
            <a:r>
              <a:rPr sz="1600" dirty="0">
                <a:solidFill>
                  <a:srgbClr val="202020"/>
                </a:solidFill>
                <a:latin typeface="Arial"/>
              </a:rPr>
              <a:t> do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interpretador</a:t>
            </a:r>
            <a:r>
              <a:rPr sz="1600" dirty="0">
                <a:solidFill>
                  <a:srgbClr val="202020"/>
                </a:solidFill>
                <a:latin typeface="Arial"/>
              </a:rPr>
              <a:t> Python.</a:t>
            </a: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Versão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exata</a:t>
            </a:r>
            <a:r>
              <a:rPr sz="16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cada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dependência</a:t>
            </a:r>
            <a:r>
              <a:rPr sz="1600" dirty="0">
                <a:solidFill>
                  <a:srgbClr val="20202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incluindo</a:t>
            </a:r>
            <a:r>
              <a:rPr sz="1600" dirty="0">
                <a:solidFill>
                  <a:srgbClr val="202020"/>
                </a:solidFill>
                <a:latin typeface="Arial"/>
              </a:rPr>
              <a:t> as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transitivas</a:t>
            </a:r>
            <a:r>
              <a:rPr sz="16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Sementes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fixas</a:t>
            </a:r>
            <a:r>
              <a:rPr sz="1600" dirty="0">
                <a:solidFill>
                  <a:srgbClr val="202020"/>
                </a:solidFill>
                <a:latin typeface="Arial"/>
              </a:rPr>
              <a:t>:</a:t>
            </a:r>
            <a:endParaRPr lang="pt-BR" sz="1600" dirty="0">
              <a:solidFill>
                <a:srgbClr val="202020"/>
              </a:solidFill>
              <a:latin typeface="Arial"/>
            </a:endParaRPr>
          </a:p>
          <a:p>
            <a:pPr lvl="1"/>
            <a:r>
              <a:rPr lang="pt-BR" sz="1200" dirty="0" err="1">
                <a:solidFill>
                  <a:srgbClr val="202020"/>
                </a:solidFill>
              </a:rPr>
              <a:t>Scikit-Learn</a:t>
            </a:r>
            <a:r>
              <a:rPr lang="pt-BR" sz="1200" dirty="0">
                <a:solidFill>
                  <a:srgbClr val="202020"/>
                </a:solidFill>
              </a:rPr>
              <a:t> e Pandas (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random_state</a:t>
            </a:r>
            <a:r>
              <a:rPr lang="pt-BR" sz="1200" dirty="0">
                <a:solidFill>
                  <a:srgbClr val="202020"/>
                </a:solidFill>
                <a:latin typeface="Arial"/>
              </a:rPr>
              <a:t>)</a:t>
            </a:r>
          </a:p>
          <a:p>
            <a:pPr lvl="1"/>
            <a:r>
              <a:rPr lang="pt-BR" sz="1200" dirty="0" err="1">
                <a:solidFill>
                  <a:srgbClr val="202020"/>
                </a:solidFill>
                <a:latin typeface="Arial"/>
              </a:rPr>
              <a:t>Numpy</a:t>
            </a:r>
            <a:r>
              <a:rPr lang="pt-BR" sz="1200" dirty="0">
                <a:solidFill>
                  <a:srgbClr val="202020"/>
                </a:solidFill>
              </a:rPr>
              <a:t> (</a:t>
            </a:r>
            <a:r>
              <a:rPr lang="pt-BR" sz="1200" dirty="0" err="1">
                <a:solidFill>
                  <a:srgbClr val="202020"/>
                </a:solidFill>
              </a:rPr>
              <a:t>numpy.random.seed</a:t>
            </a:r>
            <a:r>
              <a:rPr lang="pt-BR" sz="1200" dirty="0">
                <a:solidFill>
                  <a:srgbClr val="202020"/>
                </a:solidFill>
              </a:rPr>
              <a:t>)</a:t>
            </a:r>
            <a:endParaRPr lang="pt-BR" sz="1200" dirty="0">
              <a:solidFill>
                <a:srgbClr val="202020"/>
              </a:solidFill>
              <a:latin typeface="Arial"/>
            </a:endParaRPr>
          </a:p>
          <a:p>
            <a:pPr lvl="1"/>
            <a:r>
              <a:rPr lang="pt-BR" sz="1200" dirty="0" err="1">
                <a:solidFill>
                  <a:srgbClr val="202020"/>
                </a:solidFill>
              </a:rPr>
              <a:t>PyTorch</a:t>
            </a:r>
            <a:r>
              <a:rPr lang="pt-BR" sz="1200" dirty="0">
                <a:solidFill>
                  <a:srgbClr val="202020"/>
                </a:solidFill>
              </a:rPr>
              <a:t> (</a:t>
            </a:r>
            <a:r>
              <a:rPr lang="pt-BR" sz="1200" dirty="0" err="1">
                <a:solidFill>
                  <a:srgbClr val="202020"/>
                </a:solidFill>
              </a:rPr>
              <a:t>torch.manual_seed</a:t>
            </a:r>
            <a:r>
              <a:rPr lang="pt-BR" sz="1200" dirty="0">
                <a:solidFill>
                  <a:srgbClr val="202020"/>
                </a:solidFill>
              </a:rPr>
              <a:t>)</a:t>
            </a:r>
            <a:endParaRPr sz="1200" dirty="0">
              <a:solidFill>
                <a:srgbClr val="202020"/>
              </a:solidFill>
              <a:latin typeface="Arial"/>
            </a:endParaRPr>
          </a:p>
          <a:p>
            <a:r>
              <a:rPr sz="1600" dirty="0">
                <a:solidFill>
                  <a:srgbClr val="202020"/>
                </a:solidFill>
                <a:latin typeface="Arial"/>
              </a:rPr>
              <a:t>Sem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isso</a:t>
            </a:r>
            <a:r>
              <a:rPr sz="1600" dirty="0">
                <a:solidFill>
                  <a:srgbClr val="20202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não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há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reprodução</a:t>
            </a:r>
            <a:r>
              <a:rPr sz="16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experimento</a:t>
            </a:r>
            <a:r>
              <a:rPr sz="16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A1BA10-1C40-1D08-9A5A-E238CD107F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 err="1">
                <a:solidFill>
                  <a:srgbClr val="202020"/>
                </a:solidFill>
                <a:latin typeface="Arial"/>
              </a:rPr>
              <a:t>uv</a:t>
            </a:r>
            <a:r>
              <a:rPr dirty="0">
                <a:solidFill>
                  <a:srgbClr val="202020"/>
                </a:solidFill>
                <a:latin typeface="Arial"/>
              </a:rPr>
              <a:t> </a:t>
            </a:r>
            <a:r>
              <a:rPr dirty="0" err="1">
                <a:solidFill>
                  <a:srgbClr val="202020"/>
                </a:solidFill>
                <a:latin typeface="Arial"/>
              </a:rPr>
              <a:t>em</a:t>
            </a:r>
            <a:r>
              <a:rPr dirty="0">
                <a:solidFill>
                  <a:srgbClr val="202020"/>
                </a:solidFill>
                <a:latin typeface="Arial"/>
              </a:rPr>
              <a:t> 5 </a:t>
            </a:r>
            <a:r>
              <a:rPr dirty="0" err="1">
                <a:solidFill>
                  <a:srgbClr val="202020"/>
                </a:solidFill>
                <a:latin typeface="Arial"/>
              </a:rPr>
              <a:t>minutos</a:t>
            </a:r>
            <a:endParaRPr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25880" y="1280160"/>
            <a:ext cx="7406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F1F1F"/>
                </a:solidFill>
                <a:latin typeface="Arial"/>
              </a:rPr>
              <a:t>•  Gestor moderno de Python; substitui pyenv, pip, venv e poetry.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1F1F1F"/>
                </a:solidFill>
                <a:latin typeface="Arial"/>
              </a:rPr>
              <a:t>•  Resolve a árvore de dependências de uma vez, em paralelo.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1F1F1F"/>
                </a:solidFill>
                <a:latin typeface="Arial"/>
              </a:rPr>
              <a:t>•  Cerca de 10× mais rápido que pip.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1F1F1F"/>
                </a:solidFill>
                <a:latin typeface="Arial"/>
              </a:rPr>
              <a:t>•  Mantém uv.lock com a árvore congelada para reprodução.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79" y="2571750"/>
            <a:ext cx="7527175" cy="248031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sz="12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init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gilvanvmj-mlops-icev</a:t>
            </a:r>
            <a:endParaRPr sz="1200" dirty="0">
              <a:solidFill>
                <a:srgbClr val="222222"/>
              </a:solidFill>
              <a:latin typeface="Consola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222222"/>
                </a:solidFill>
                <a:latin typeface="Consolas"/>
              </a:rPr>
              <a:t>cd 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gilvanvmj-mlops-icev</a:t>
            </a:r>
            <a:endParaRPr sz="12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2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python pin 3.11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2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add scikit-learn pandas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mlflow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fastapi</a:t>
            </a:r>
            <a:endParaRPr sz="12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2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add --dev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pytest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ruff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2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run python -c "import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sklearn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; print(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sklearn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.__version__)"</a:t>
            </a:r>
            <a:endParaRPr lang="pt-BR" sz="1200" dirty="0">
              <a:solidFill>
                <a:srgbClr val="222222"/>
              </a:solidFill>
              <a:latin typeface="Consola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dirty="0" err="1">
                <a:solidFill>
                  <a:srgbClr val="222222"/>
                </a:solidFill>
                <a:latin typeface="Consolas"/>
              </a:rPr>
              <a:t>echo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.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venv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/ &gt; .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gitignore</a:t>
            </a:r>
            <a:endParaRPr lang="pt-BR" sz="1200" dirty="0">
              <a:solidFill>
                <a:srgbClr val="222222"/>
              </a:solidFill>
              <a:latin typeface="Consola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dirty="0" err="1">
                <a:solidFill>
                  <a:srgbClr val="222222"/>
                </a:solidFill>
                <a:latin typeface="Consolas"/>
              </a:rPr>
              <a:t>echo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__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pycache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__/ &gt;&gt; .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gitignore</a:t>
            </a:r>
            <a:endParaRPr lang="pt-BR" sz="1200" dirty="0">
              <a:solidFill>
                <a:srgbClr val="222222"/>
              </a:solidFill>
              <a:latin typeface="Consola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dirty="0" err="1">
                <a:solidFill>
                  <a:srgbClr val="222222"/>
                </a:solidFill>
                <a:latin typeface="Consolas"/>
              </a:rPr>
              <a:t>echo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.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pytest_cache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/ &gt;&gt; .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gitignore</a:t>
            </a:r>
            <a:endParaRPr lang="pt-BR" sz="1200" dirty="0">
              <a:solidFill>
                <a:srgbClr val="222222"/>
              </a:solidFill>
              <a:latin typeface="Consola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dirty="0" err="1">
                <a:solidFill>
                  <a:srgbClr val="222222"/>
                </a:solidFill>
                <a:latin typeface="Consolas"/>
              </a:rPr>
              <a:t>echo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.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ruff_cache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/ &gt;&gt; .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gitignore</a:t>
            </a:r>
            <a:endParaRPr lang="pt-BR" sz="1200" dirty="0">
              <a:solidFill>
                <a:srgbClr val="222222"/>
              </a:solidFill>
              <a:latin typeface="Consola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dirty="0" err="1">
                <a:solidFill>
                  <a:srgbClr val="222222"/>
                </a:solidFill>
                <a:latin typeface="Consolas"/>
              </a:rPr>
              <a:t>git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add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pyproject.toml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uv.lock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.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gitignore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README.md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22222"/>
                </a:solidFill>
                <a:latin typeface="Consolas"/>
              </a:rPr>
              <a:t>git commit -m "chore: </a:t>
            </a:r>
            <a:r>
              <a:rPr lang="en-US" sz="1200" dirty="0" err="1">
                <a:solidFill>
                  <a:srgbClr val="222222"/>
                </a:solidFill>
                <a:latin typeface="Consolas"/>
              </a:rPr>
              <a:t>init</a:t>
            </a:r>
            <a:r>
              <a:rPr lang="en-US"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lang="en-US" sz="1200" dirty="0">
                <a:solidFill>
                  <a:srgbClr val="222222"/>
                </a:solidFill>
                <a:latin typeface="Consolas"/>
              </a:rPr>
              <a:t> project structure and lock dependencies"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22222"/>
                </a:solidFill>
                <a:latin typeface="Consolas"/>
              </a:rPr>
              <a:t>git push -u origin main</a:t>
            </a:r>
            <a:endParaRPr sz="12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4A96FB3-8B6B-E7F3-038E-67A3B4B4F2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 err="1">
                <a:solidFill>
                  <a:srgbClr val="202020"/>
                </a:solidFill>
                <a:latin typeface="Arial"/>
              </a:rPr>
              <a:t>pyproject.tom</a:t>
            </a:r>
            <a:r>
              <a:rPr lang="pt-BR" dirty="0">
                <a:solidFill>
                  <a:srgbClr val="202020"/>
                </a:solidFill>
                <a:latin typeface="Arial"/>
              </a:rPr>
              <a:t>l</a:t>
            </a:r>
            <a:endParaRPr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325880" y="969818"/>
            <a:ext cx="7406640" cy="3525982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[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project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]</a:t>
            </a:r>
          </a:p>
          <a:p>
            <a:r>
              <a:rPr lang="pt-BR" sz="1200" dirty="0" err="1">
                <a:solidFill>
                  <a:srgbClr val="222222"/>
                </a:solidFill>
                <a:latin typeface="Consolas"/>
              </a:rPr>
              <a:t>name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= "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gilvanvmj-mlops-icev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"</a:t>
            </a:r>
          </a:p>
          <a:p>
            <a:r>
              <a:rPr lang="pt-BR" sz="1200" dirty="0" err="1">
                <a:solidFill>
                  <a:srgbClr val="222222"/>
                </a:solidFill>
                <a:latin typeface="Consolas"/>
              </a:rPr>
              <a:t>version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= "0.1.0"</a:t>
            </a:r>
          </a:p>
          <a:p>
            <a:r>
              <a:rPr lang="pt-BR" sz="1200" dirty="0" err="1">
                <a:solidFill>
                  <a:srgbClr val="222222"/>
                </a:solidFill>
                <a:latin typeface="Consolas"/>
              </a:rPr>
              <a:t>description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= "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Add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your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description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here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"</a:t>
            </a:r>
          </a:p>
          <a:p>
            <a:r>
              <a:rPr lang="pt-BR" sz="1200" dirty="0" err="1">
                <a:solidFill>
                  <a:srgbClr val="222222"/>
                </a:solidFill>
                <a:latin typeface="Consolas"/>
              </a:rPr>
              <a:t>readme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= "README.md"</a:t>
            </a:r>
          </a:p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requires-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python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= "&gt;=3.11"</a:t>
            </a:r>
          </a:p>
          <a:p>
            <a:r>
              <a:rPr lang="pt-BR" sz="1200" dirty="0" err="1">
                <a:solidFill>
                  <a:srgbClr val="222222"/>
                </a:solidFill>
                <a:latin typeface="Consolas"/>
              </a:rPr>
              <a:t>dependencies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= [</a:t>
            </a:r>
          </a:p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    "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fastapi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&gt;=0.136.3",</a:t>
            </a:r>
          </a:p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    "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mlflow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&gt;=3.12.0",</a:t>
            </a:r>
          </a:p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    "pandas&gt;=2.3.3",</a:t>
            </a:r>
          </a:p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    "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scikit-learn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&gt;=1.8.0",</a:t>
            </a:r>
          </a:p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]</a:t>
            </a:r>
          </a:p>
          <a:p>
            <a:endParaRPr lang="pt-BR" sz="1200" dirty="0">
              <a:solidFill>
                <a:srgbClr val="222222"/>
              </a:solidFill>
              <a:latin typeface="Consolas"/>
            </a:endParaRPr>
          </a:p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[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dependency-groups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]</a:t>
            </a:r>
          </a:p>
          <a:p>
            <a:r>
              <a:rPr lang="pt-BR" sz="1200" dirty="0" err="1">
                <a:solidFill>
                  <a:srgbClr val="222222"/>
                </a:solidFill>
                <a:latin typeface="Consolas"/>
              </a:rPr>
              <a:t>dev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 = [</a:t>
            </a:r>
          </a:p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    "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pytest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&gt;=9.0.3",</a:t>
            </a:r>
          </a:p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    "</a:t>
            </a:r>
            <a:r>
              <a:rPr lang="pt-BR" sz="1200" dirty="0" err="1">
                <a:solidFill>
                  <a:srgbClr val="222222"/>
                </a:solidFill>
                <a:latin typeface="Consolas"/>
              </a:rPr>
              <a:t>ruff</a:t>
            </a:r>
            <a:r>
              <a:rPr lang="pt-BR" sz="1200" dirty="0">
                <a:solidFill>
                  <a:srgbClr val="222222"/>
                </a:solidFill>
                <a:latin typeface="Consolas"/>
              </a:rPr>
              <a:t>&gt;=0.15.15",</a:t>
            </a:r>
          </a:p>
          <a:p>
            <a:r>
              <a:rPr lang="pt-BR" sz="1200" dirty="0">
                <a:solidFill>
                  <a:srgbClr val="222222"/>
                </a:solidFill>
                <a:latin typeface="Consolas"/>
              </a:rPr>
              <a:t>]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B0611E3-5FE5-1AD1-6AC0-5CF43565A2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Docker como container de desenvolvimento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998" y="1188720"/>
            <a:ext cx="5273042" cy="3223259"/>
          </a:xfrm>
        </p:spPr>
        <p:txBody>
          <a:bodyPr wrap="square"/>
          <a:lstStyle/>
          <a:p>
            <a:r>
              <a:rPr sz="1600" dirty="0" err="1">
                <a:solidFill>
                  <a:srgbClr val="202020"/>
                </a:solidFill>
                <a:latin typeface="Arial"/>
              </a:rPr>
              <a:t>Garantia</a:t>
            </a:r>
            <a:r>
              <a:rPr sz="16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que</a:t>
            </a:r>
            <a:r>
              <a:rPr sz="1600" dirty="0">
                <a:solidFill>
                  <a:srgbClr val="202020"/>
                </a:solidFill>
                <a:latin typeface="Arial"/>
              </a:rPr>
              <a:t> o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ambiente</a:t>
            </a:r>
            <a:r>
              <a:rPr sz="1600" dirty="0">
                <a:solidFill>
                  <a:srgbClr val="202020"/>
                </a:solidFill>
                <a:latin typeface="Arial"/>
              </a:rPr>
              <a:t> do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servidor</a:t>
            </a:r>
            <a:r>
              <a:rPr sz="1600" dirty="0">
                <a:solidFill>
                  <a:srgbClr val="202020"/>
                </a:solidFill>
                <a:latin typeface="Arial"/>
              </a:rPr>
              <a:t> é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igual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ao</a:t>
            </a:r>
            <a:r>
              <a:rPr sz="1600" dirty="0">
                <a:solidFill>
                  <a:srgbClr val="202020"/>
                </a:solidFill>
                <a:latin typeface="Arial"/>
              </a:rPr>
              <a:t> da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sua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máquina</a:t>
            </a:r>
            <a:r>
              <a:rPr sz="16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Dockerfile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descreve</a:t>
            </a:r>
            <a:r>
              <a:rPr sz="1600" dirty="0">
                <a:solidFill>
                  <a:srgbClr val="202020"/>
                </a:solidFill>
                <a:latin typeface="Arial"/>
              </a:rPr>
              <a:t> a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imagem</a:t>
            </a:r>
            <a:r>
              <a:rPr lang="pt-BR" sz="1600" dirty="0">
                <a:solidFill>
                  <a:srgbClr val="202020"/>
                </a:solidFill>
              </a:rPr>
              <a:t>.</a:t>
            </a:r>
            <a:endParaRPr lang="pt-BR" sz="1600" dirty="0">
              <a:solidFill>
                <a:srgbClr val="202020"/>
              </a:solidFill>
              <a:latin typeface="Arial"/>
            </a:endParaRPr>
          </a:p>
          <a:p>
            <a:r>
              <a:rPr lang="pt-BR" sz="1600" dirty="0">
                <a:solidFill>
                  <a:srgbClr val="202020"/>
                </a:solidFill>
              </a:rPr>
              <a:t>D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ocker</a:t>
            </a:r>
            <a:r>
              <a:rPr sz="1600" dirty="0">
                <a:solidFill>
                  <a:srgbClr val="202020"/>
                </a:solidFill>
                <a:latin typeface="Arial"/>
              </a:rPr>
              <a:t>-compose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orquestra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serviços</a:t>
            </a:r>
            <a:r>
              <a:rPr sz="16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r>
              <a:rPr sz="1600" dirty="0">
                <a:solidFill>
                  <a:srgbClr val="202020"/>
                </a:solidFill>
                <a:latin typeface="Arial"/>
              </a:rPr>
              <a:t>Imagem base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recomendada</a:t>
            </a:r>
            <a:r>
              <a:rPr sz="1600" dirty="0">
                <a:solidFill>
                  <a:srgbClr val="202020"/>
                </a:solidFill>
                <a:latin typeface="Arial"/>
              </a:rPr>
              <a:t>: </a:t>
            </a:r>
            <a:endParaRPr lang="pt-BR" sz="1600" dirty="0">
              <a:solidFill>
                <a:srgbClr val="202020"/>
              </a:solidFill>
              <a:latin typeface="Arial"/>
            </a:endParaRPr>
          </a:p>
          <a:p>
            <a:pPr lvl="1"/>
            <a:r>
              <a:rPr sz="1200" dirty="0">
                <a:solidFill>
                  <a:srgbClr val="202020"/>
                </a:solidFill>
                <a:latin typeface="Arial"/>
              </a:rPr>
              <a:t>python:3.11-slim (250 MB com multi-stage).</a:t>
            </a: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Veremos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Dockerfile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completo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na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Unidade</a:t>
            </a:r>
            <a:r>
              <a:rPr sz="1600" dirty="0">
                <a:solidFill>
                  <a:srgbClr val="202020"/>
                </a:solidFill>
                <a:latin typeface="Arial"/>
              </a:rPr>
              <a:t> 3.</a:t>
            </a:r>
          </a:p>
        </p:txBody>
      </p:sp>
      <p:pic>
        <p:nvPicPr>
          <p:cNvPr id="5" name="Picture 4" descr="container_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0" y="1413510"/>
            <a:ext cx="2316480" cy="2316480"/>
          </a:xfrm>
          <a:prstGeom prst="rect">
            <a:avLst/>
          </a:prstGeom>
        </p:spPr>
      </p:pic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12C595-043C-2B44-4B59-282DE7F370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Git para ML: o que muda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Branch por experimento (exp/feature-set-v2) ou por feature.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.gitignore agressivo: data/raw, .venv, mlruns, models/*.pkl.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Convenção de commit ajuda CI a inferir versões.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Git não foi feito para arquivos grandes. É aí que entra o DVC.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9F10D78-536B-78EA-5F80-0357821B84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Por que DVC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448056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Estende Git para versionar datasets e modelos grandes.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No Git fica só o ponteiro (arquivo .dvc com o hash).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O conteúdo real vai para um remote: S3, Azure Blob, GCS, pasta de rede.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Mantém linhagem: dado → código → modelo treinado.</a:t>
            </a:r>
          </a:p>
        </p:txBody>
      </p:sp>
      <p:pic>
        <p:nvPicPr>
          <p:cNvPr id="5" name="Picture 4" descr="archi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D61226-5AE4-BAC7-68F0-A626AB4A9F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72073-4B62-54F6-F2DA-3B057F10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28D-32DD-6749-B0B3-A4C6F5F6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Comandos DVC essenciais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FF967-5216-DA96-C8C2-167E724E9D5B}"/>
              </a:ext>
            </a:extLst>
          </p:cNvPr>
          <p:cNvSpPr txBox="1"/>
          <p:nvPr/>
        </p:nvSpPr>
        <p:spPr>
          <a:xfrm>
            <a:off x="1325880" y="1325880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1F1F1F"/>
                </a:solidFill>
                <a:latin typeface="Arial"/>
              </a:rPr>
              <a:t>Bootstrap + remote +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primeiro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versionado</a:t>
            </a:r>
            <a:endParaRPr sz="14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CD9B02-1761-88BD-0337-92343BDB1EA8}"/>
              </a:ext>
            </a:extLst>
          </p:cNvPr>
          <p:cNvSpPr/>
          <p:nvPr/>
        </p:nvSpPr>
        <p:spPr>
          <a:xfrm>
            <a:off x="1325880" y="1618487"/>
            <a:ext cx="7406640" cy="1595767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pPr algn="l"/>
            <a:r>
              <a:rPr sz="11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init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remote add -d storage /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tmp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dvcstore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# remote local p/ demo;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em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produção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: S3/Azure/GCS</a:t>
            </a:r>
          </a:p>
          <a:p>
            <a:pPr algn="l"/>
            <a:r>
              <a:rPr sz="11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add data/raw/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wine.parquet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git add data/raw/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wine.parquet.dvc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git commit -m "data: add raw dataset"</a:t>
            </a:r>
          </a:p>
          <a:p>
            <a:pPr algn="l"/>
            <a:r>
              <a:rPr sz="11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push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git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push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origin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main</a:t>
            </a:r>
            <a:endParaRPr sz="11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545BA-F950-2443-0122-FC8030E6BB71}"/>
              </a:ext>
            </a:extLst>
          </p:cNvPr>
          <p:cNvSpPr txBox="1"/>
          <p:nvPr/>
        </p:nvSpPr>
        <p:spPr>
          <a:xfrm>
            <a:off x="1325880" y="3385774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F1F1F"/>
                </a:solidFill>
                <a:latin typeface="Arial"/>
              </a:rPr>
              <a:t>Reproduzir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em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outra</a:t>
            </a:r>
            <a:r>
              <a:rPr sz="1400" b="1" dirty="0">
                <a:solidFill>
                  <a:srgbClr val="1F1F1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1F1F"/>
                </a:solidFill>
                <a:latin typeface="Arial"/>
              </a:rPr>
              <a:t>máquina</a:t>
            </a:r>
            <a:endParaRPr sz="14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8B99659-73ED-B94B-1C7E-5E50B417D931}"/>
              </a:ext>
            </a:extLst>
          </p:cNvPr>
          <p:cNvSpPr/>
          <p:nvPr/>
        </p:nvSpPr>
        <p:spPr>
          <a:xfrm>
            <a:off x="1325880" y="3678382"/>
            <a:ext cx="7406640" cy="802177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git clone &lt;repo&gt;</a:t>
            </a:r>
          </a:p>
          <a:p>
            <a:pPr algn="l"/>
            <a:r>
              <a:rPr sz="11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pull   #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baixa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do remote o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conteúdo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apontado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pelo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 .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dvc</a:t>
            </a:r>
            <a:endParaRPr sz="11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2192D11-352B-DC86-4380-A404715AA1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005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>
                <a:solidFill>
                  <a:srgbClr val="202020"/>
                </a:solidFill>
                <a:latin typeface="Arial"/>
              </a:rPr>
              <a:t>Demo: bootstrap do </a:t>
            </a:r>
            <a:r>
              <a:rPr dirty="0" err="1">
                <a:solidFill>
                  <a:srgbClr val="202020"/>
                </a:solidFill>
                <a:latin typeface="Arial"/>
              </a:rPr>
              <a:t>projeto</a:t>
            </a:r>
            <a:r>
              <a:rPr dirty="0">
                <a:solidFill>
                  <a:srgbClr val="202020"/>
                </a:solidFill>
                <a:latin typeface="Arial"/>
              </a:rPr>
              <a:t> com </a:t>
            </a:r>
            <a:r>
              <a:rPr dirty="0" err="1">
                <a:solidFill>
                  <a:srgbClr val="202020"/>
                </a:solidFill>
                <a:latin typeface="Arial"/>
              </a:rPr>
              <a:t>uv</a:t>
            </a:r>
            <a:r>
              <a:rPr dirty="0">
                <a:solidFill>
                  <a:srgbClr val="202020"/>
                </a:solidFill>
                <a:latin typeface="Arial"/>
              </a:rPr>
              <a:t> e DVC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25880"/>
            <a:ext cx="36118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1. Ambiente reprodutível com uv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655064"/>
            <a:ext cx="3611880" cy="1088136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init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gilvanvmj-mlops-icev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900" dirty="0" err="1">
                <a:solidFill>
                  <a:srgbClr val="222222"/>
                </a:solidFill>
                <a:latin typeface="Consolas"/>
              </a:rPr>
              <a:t>cd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gilvanvmj-mlops-icev</a:t>
            </a:r>
            <a:endParaRPr sz="9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python pin 3.11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add scikit-learn pandas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pyarrow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dvc</a:t>
            </a:r>
            <a:endParaRPr sz="9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4920" y="1325880"/>
            <a:ext cx="36118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2. Gerar dataset Wine (~12 KB)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655064"/>
            <a:ext cx="3611880" cy="1088136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900" dirty="0" err="1">
                <a:solidFill>
                  <a:srgbClr val="222222"/>
                </a:solidFill>
                <a:latin typeface="Consolas"/>
              </a:rPr>
              <a:t>mkdir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data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run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python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-c "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sklearn.datasets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load_wine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;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pandas as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pd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; w=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load_wine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as_frame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True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);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pd.concat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([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w.data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w.target.rename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('y')],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axis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=1).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to_parquet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('data/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wine.parquet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')"</a:t>
            </a:r>
            <a:endParaRPr sz="9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5880" y="2926080"/>
            <a:ext cx="36118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3. Inicializar Git + DVC (remote local)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3255264"/>
            <a:ext cx="3611880" cy="1088136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900" dirty="0">
                <a:solidFill>
                  <a:srgbClr val="222222"/>
                </a:solidFill>
                <a:latin typeface="Consolas"/>
              </a:rPr>
              <a:t>git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init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&amp;&amp;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run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init</a:t>
            </a:r>
            <a:endParaRPr sz="9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run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remote add -d local /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tmp</a:t>
            </a:r>
            <a:r>
              <a:rPr sz="900" dirty="0">
                <a:solidFill>
                  <a:srgbClr val="222222"/>
                </a:solidFill>
                <a:latin typeface="Consolas"/>
              </a:rPr>
              <a:t>/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dvcstore</a:t>
            </a:r>
            <a:endParaRPr sz="9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74920" y="2926080"/>
            <a:ext cx="36118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4. Versionar dado e fazer push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255264"/>
            <a:ext cx="3611880" cy="1088136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run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add data/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wine.parquet</a:t>
            </a:r>
            <a:endParaRPr sz="9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900" dirty="0">
                <a:solidFill>
                  <a:srgbClr val="222222"/>
                </a:solidFill>
                <a:latin typeface="Consolas"/>
              </a:rPr>
              <a:t>git add data/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wine.parquet.dvc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data/.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gitignore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.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/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pyproject.toml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uv.lock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900" dirty="0">
                <a:solidFill>
                  <a:srgbClr val="222222"/>
                </a:solidFill>
                <a:latin typeface="Consolas"/>
              </a:rPr>
              <a:t>git commit -m "feat: bootstrap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uv+dvc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wine v1"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run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dvc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push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900" dirty="0" err="1">
                <a:solidFill>
                  <a:srgbClr val="222222"/>
                </a:solidFill>
                <a:latin typeface="Consolas"/>
              </a:rPr>
              <a:t>git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push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origin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main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542FB50-DA9A-296F-3F88-9BD571DAA0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22</a:t>
            </a:fld>
            <a:endParaRPr 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/>
              <a:t>Estrutura do projeto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939180"/>
            <a:ext cx="7406640" cy="400000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gilvanvmj-mlops-icev/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src/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data.py       # raw -&gt; processed (limpa nomes)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train.py      # treina Pipeline + registra no MLflow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promote.py    # melhor versao -&gt; alias @champion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evaluate.py   # challenger x champion (domingo)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monitor.py    # data drift com Evidently (domingo)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api/main.py   # serving FastAPI (/health, /predict)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data/   raw/ (DVC)  +  processed/ (saida do pipeline)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dvc.yaml         # pipeline declarativo: data -&gt; train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Dockerfile       # imagem multi-stage (uv)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pyproject.toml / uv.lock</a:t>
            </a:r>
          </a:p>
          <a:p>
            <a:pPr algn="l"/>
            <a:endParaRPr sz="110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# dvc.yaml e Dockerfile APONTAM para os arquivos em src/.</a:t>
            </a:r>
          </a:p>
        </p:txBody>
      </p:sp>
      <p:sp>
        <p:nvSpPr>
          <p:cNvPr id="5" name="Numero de Slide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23</a:t>
            </a:fld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>
                <a:solidFill>
                  <a:srgbClr val="202020"/>
                </a:solidFill>
                <a:latin typeface="Arial"/>
              </a:rPr>
              <a:t>Pipeline </a:t>
            </a:r>
            <a:r>
              <a:rPr dirty="0" err="1">
                <a:solidFill>
                  <a:srgbClr val="202020"/>
                </a:solidFill>
                <a:latin typeface="Arial"/>
              </a:rPr>
              <a:t>declarativo</a:t>
            </a:r>
            <a:r>
              <a:rPr dirty="0">
                <a:solidFill>
                  <a:srgbClr val="202020"/>
                </a:solidFill>
                <a:latin typeface="Arial"/>
              </a:rPr>
              <a:t> com </a:t>
            </a:r>
            <a:r>
              <a:rPr dirty="0" err="1">
                <a:solidFill>
                  <a:srgbClr val="202020"/>
                </a:solidFill>
                <a:latin typeface="Arial"/>
              </a:rPr>
              <a:t>dvc.yaml</a:t>
            </a:r>
            <a:endParaRPr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1280160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dvc.yaml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810512"/>
            <a:ext cx="7406640" cy="2624327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stages: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data: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cmd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: python src/data.py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deps: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  - src/data.py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  - data/raw/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wine.parquet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outs: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  - data/processed/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wine.parquet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train: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cmd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: python src/train.py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deps: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  - src/train.py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  - data/processed/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wine.parquet</a:t>
            </a:r>
            <a:endParaRPr sz="11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outs: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  - models/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model.pkl</a:t>
            </a:r>
            <a:endParaRPr sz="11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4C8E04A-F820-8B2B-B874-A2145A0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24</a:t>
            </a:fld>
            <a:endParaRPr lang="pt-B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Resumo da Unidade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MLOps existe porque modelo em produção é muito diferente de notebook.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Reprodutibilidade, rastreabilidade, automação e monitoramento são pilares.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Ambientes reprodutíveis com uv e pyproject.toml.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Git para código, DVC para dados, juntos garantem linhagem.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A28BCB-DB23-49E0-AE0C-57B8DACAE3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25</a:t>
            </a:fld>
            <a:endParaRPr 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Intervalo até 17h15</a:t>
            </a:r>
          </a:p>
        </p:txBody>
      </p:sp>
      <p:pic>
        <p:nvPicPr>
          <p:cNvPr id="4" name="Picture 3" descr="coffee_break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298A93-7853-610A-646F-301720F562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26</a:t>
            </a:fld>
            <a:endParaRPr lang="pt-B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011680"/>
            <a:ext cx="7406640" cy="109728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Unidade 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6700AF-C0A0-CD98-959E-5FD97C5B53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27</a:t>
            </a:fld>
            <a:endParaRPr lang="pt-B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MLflow: quatro componentes principais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Tracking: parâmetros, métricas, artefatos por execução (run).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Projects: empacotamento reprodutível (pouco usado hoje).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Models: formato unificado para serializar e servir.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Model Registry: versionamento, aliases e governança em produção.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DE30EE-83B1-54EA-20A3-83112B290D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28</a:t>
            </a:fld>
            <a:endParaRPr lang="pt-B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Anatomia do Tracking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3657600" cy="3223259"/>
          </a:xfrm>
        </p:spPr>
        <p:txBody>
          <a:bodyPr wrap="square"/>
          <a:lstStyle/>
          <a:p>
            <a:r>
              <a:rPr sz="1400">
                <a:solidFill>
                  <a:srgbClr val="202020"/>
                </a:solidFill>
                <a:latin typeface="Arial"/>
              </a:rPr>
              <a:t>Experiment: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agrupador lógico (ex.: 'wine-classifier').</a:t>
            </a:r>
          </a:p>
          <a:p>
            <a:r>
              <a:rPr sz="1400">
                <a:solidFill>
                  <a:srgbClr val="202020"/>
                </a:solidFill>
                <a:latin typeface="Arial"/>
              </a:rPr>
              <a:t>Run: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uma execução de treino dentro do experiment.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074920" y="1280160"/>
            <a:ext cx="3657600" cy="3223259"/>
          </a:xfrm>
        </p:spPr>
        <p:txBody>
          <a:bodyPr wrap="square"/>
          <a:lstStyle/>
          <a:p>
            <a:r>
              <a:rPr sz="1400">
                <a:solidFill>
                  <a:srgbClr val="202020"/>
                </a:solidFill>
                <a:latin typeface="Arial"/>
              </a:rPr>
              <a:t>Parameters: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hiperparâmetros e configs.</a:t>
            </a:r>
          </a:p>
          <a:p>
            <a:r>
              <a:rPr sz="1400">
                <a:solidFill>
                  <a:srgbClr val="202020"/>
                </a:solidFill>
                <a:latin typeface="Arial"/>
              </a:rPr>
              <a:t>Metrics: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valores numéricos (suporta steps).</a:t>
            </a:r>
          </a:p>
          <a:p>
            <a:r>
              <a:rPr sz="1400">
                <a:solidFill>
                  <a:srgbClr val="202020"/>
                </a:solidFill>
                <a:latin typeface="Arial"/>
              </a:rPr>
              <a:t>Artifacts: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modelo, gráficos, datasets pequenos.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7A8412-84ED-4E13-D57D-6CF0781542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29</a:t>
            </a:fld>
            <a:endParaRPr lang="pt-B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 err="1">
                <a:solidFill>
                  <a:srgbClr val="202020"/>
                </a:solidFill>
                <a:latin typeface="Arial"/>
              </a:rPr>
              <a:t>Subindo</a:t>
            </a:r>
            <a:r>
              <a:rPr dirty="0">
                <a:solidFill>
                  <a:srgbClr val="202020"/>
                </a:solidFill>
                <a:latin typeface="Arial"/>
              </a:rPr>
              <a:t> um Tracking Server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280160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Terminal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1810512"/>
            <a:ext cx="7406640" cy="146304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r>
              <a:rPr sz="1300" dirty="0">
                <a:solidFill>
                  <a:srgbClr val="222222"/>
                </a:solidFill>
                <a:latin typeface="Consolas"/>
              </a:rPr>
              <a:t># </a:t>
            </a:r>
            <a:r>
              <a:rPr lang="pt-BR" sz="1300" dirty="0">
                <a:solidFill>
                  <a:srgbClr val="222222"/>
                </a:solidFill>
                <a:latin typeface="Consolas"/>
              </a:rPr>
              <a:t>Se </a:t>
            </a:r>
            <a:r>
              <a:rPr sz="1300" dirty="0">
                <a:solidFill>
                  <a:srgbClr val="222222"/>
                </a:solidFill>
                <a:latin typeface="Consolas"/>
              </a:rPr>
              <a:t>Windows</a:t>
            </a:r>
            <a:r>
              <a:rPr lang="pt-BR" sz="1300" dirty="0">
                <a:solidFill>
                  <a:srgbClr val="222222"/>
                </a:solidFill>
                <a:latin typeface="Consolas"/>
              </a:rPr>
              <a:t>, execute antes</a:t>
            </a:r>
            <a:r>
              <a:rPr sz="1300" dirty="0">
                <a:solidFill>
                  <a:srgbClr val="222222"/>
                </a:solidFill>
                <a:latin typeface="Consolas"/>
              </a:rPr>
              <a:t>: </a:t>
            </a:r>
            <a:r>
              <a:rPr lang="pt-BR" sz="1300" dirty="0">
                <a:solidFill>
                  <a:srgbClr val="222222"/>
                </a:solidFill>
                <a:latin typeface="Consolas"/>
              </a:rPr>
              <a:t>$env:PYTHONIOENCODING = "utf-8"</a:t>
            </a:r>
            <a:endParaRPr sz="13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3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1300" dirty="0">
                <a:solidFill>
                  <a:srgbClr val="222222"/>
                </a:solidFill>
                <a:latin typeface="Consolas"/>
              </a:rPr>
              <a:t> run </a:t>
            </a:r>
            <a:r>
              <a:rPr sz="1300" dirty="0" err="1">
                <a:solidFill>
                  <a:srgbClr val="222222"/>
                </a:solidFill>
                <a:latin typeface="Consolas"/>
              </a:rPr>
              <a:t>mlflow</a:t>
            </a:r>
            <a:r>
              <a:rPr sz="1300" dirty="0">
                <a:solidFill>
                  <a:srgbClr val="222222"/>
                </a:solidFill>
                <a:latin typeface="Consolas"/>
              </a:rPr>
              <a:t> server </a:t>
            </a:r>
            <a:r>
              <a:rPr lang="pt-BR" sz="1300" dirty="0">
                <a:solidFill>
                  <a:srgbClr val="222222"/>
                </a:solidFill>
                <a:latin typeface="Consolas"/>
              </a:rPr>
              <a:t>`</a:t>
            </a:r>
            <a:endParaRPr sz="1300" dirty="0">
              <a:solidFill>
                <a:srgbClr val="222222"/>
              </a:solidFill>
              <a:latin typeface="Consolas"/>
            </a:endParaRPr>
          </a:p>
          <a:p>
            <a:r>
              <a:rPr sz="1300" dirty="0">
                <a:solidFill>
                  <a:srgbClr val="222222"/>
                </a:solidFill>
                <a:latin typeface="Consolas"/>
              </a:rPr>
              <a:t>    --host 127.0.0.1 --port 5000 </a:t>
            </a:r>
            <a:r>
              <a:rPr lang="pt-BR" sz="1300" dirty="0">
                <a:solidFill>
                  <a:srgbClr val="222222"/>
                </a:solidFill>
                <a:latin typeface="Consolas"/>
              </a:rPr>
              <a:t>`</a:t>
            </a:r>
            <a:endParaRPr sz="1300" dirty="0">
              <a:solidFill>
                <a:srgbClr val="222222"/>
              </a:solidFill>
              <a:latin typeface="Consolas"/>
            </a:endParaRPr>
          </a:p>
          <a:p>
            <a:r>
              <a:rPr sz="1300" dirty="0">
                <a:solidFill>
                  <a:srgbClr val="222222"/>
                </a:solidFill>
                <a:latin typeface="Consolas"/>
              </a:rPr>
              <a:t>    --backend-store-</a:t>
            </a:r>
            <a:r>
              <a:rPr sz="1300" dirty="0" err="1">
                <a:solidFill>
                  <a:srgbClr val="222222"/>
                </a:solidFill>
                <a:latin typeface="Consolas"/>
              </a:rPr>
              <a:t>uri</a:t>
            </a:r>
            <a:r>
              <a:rPr sz="1300" dirty="0">
                <a:solidFill>
                  <a:srgbClr val="222222"/>
                </a:solidFill>
                <a:latin typeface="Consolas"/>
              </a:rPr>
              <a:t> sqlite:///mlflow.db </a:t>
            </a:r>
            <a:r>
              <a:rPr lang="pt-BR" sz="1300" dirty="0">
                <a:solidFill>
                  <a:srgbClr val="222222"/>
                </a:solidFill>
                <a:latin typeface="Consolas"/>
              </a:rPr>
              <a:t>`</a:t>
            </a:r>
            <a:endParaRPr sz="1300" dirty="0">
              <a:solidFill>
                <a:srgbClr val="222222"/>
              </a:solidFill>
              <a:latin typeface="Consolas"/>
            </a:endParaRPr>
          </a:p>
          <a:p>
            <a:r>
              <a:rPr sz="1300" dirty="0">
                <a:solidFill>
                  <a:srgbClr val="222222"/>
                </a:solidFill>
                <a:latin typeface="Consolas"/>
              </a:rPr>
              <a:t>    --artifacts-destination ./</a:t>
            </a:r>
            <a:r>
              <a:rPr sz="1300" dirty="0" err="1">
                <a:solidFill>
                  <a:srgbClr val="222222"/>
                </a:solidFill>
                <a:latin typeface="Consolas"/>
              </a:rPr>
              <a:t>mlartifacts</a:t>
            </a:r>
            <a:r>
              <a:rPr sz="13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300" dirty="0">
                <a:solidFill>
                  <a:srgbClr val="222222"/>
                </a:solidFill>
                <a:latin typeface="Consolas"/>
              </a:rPr>
              <a:t>`</a:t>
            </a:r>
            <a:endParaRPr sz="13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300" dirty="0">
                <a:solidFill>
                  <a:srgbClr val="222222"/>
                </a:solidFill>
                <a:latin typeface="Consolas"/>
              </a:rPr>
              <a:t>    --serve-artifacts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57BC185-4766-370D-1DFA-2A79B19EF0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30</a:t>
            </a:fld>
            <a:endParaRPr lang="pt-B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t>Instrumentando um treino: anatomia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25880"/>
            <a:ext cx="740664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F1F1F"/>
                </a:solidFill>
                <a:latin typeface="Arial"/>
              </a:rPr>
              <a:t>•  Conectar ao tracking server local (uri + experimento).</a:t>
            </a:r>
          </a:p>
          <a:p>
            <a:pPr algn="l"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  <a:latin typeface="Arial"/>
              </a:rPr>
              <a:t>•  Iniciar um run com nome legível (with mlflow.start_run).</a:t>
            </a:r>
          </a:p>
          <a:p>
            <a:pPr algn="l"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  <a:latin typeface="Arial"/>
              </a:rPr>
              <a:t>•  Logar hiperparâmetros antes do fit (mlflow.log_params).</a:t>
            </a:r>
          </a:p>
          <a:p>
            <a:pPr algn="l"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  <a:latin typeface="Arial"/>
              </a:rPr>
              <a:t>•  Treinar e calcular a métrica (f1_macro no validation set).</a:t>
            </a:r>
          </a:p>
          <a:p>
            <a:pPr algn="l"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  <a:latin typeface="Arial"/>
              </a:rPr>
              <a:t>•  Logar métricas e o modelo serializado (registered_model_name dispara Registry).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5A75909-8C05-FC0D-D288-DBCDBEC27A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31</a:t>
            </a:fld>
            <a:endParaRPr lang="pt-B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 err="1"/>
              <a:t>Instrumentando</a:t>
            </a:r>
            <a:r>
              <a:rPr dirty="0"/>
              <a:t> um </a:t>
            </a:r>
            <a:r>
              <a:rPr dirty="0" err="1"/>
              <a:t>treino</a:t>
            </a:r>
            <a:r>
              <a:rPr dirty="0"/>
              <a:t>: </a:t>
            </a:r>
            <a:r>
              <a:rPr dirty="0" err="1"/>
              <a:t>código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226127" y="955964"/>
            <a:ext cx="7813964" cy="3532909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pandas as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pd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mlflow.sklearn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sklearn.ensemble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RandomForestClassifier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sklearn.metrics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f1_score</a:t>
            </a: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sklearn.model_selection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train_test_split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# 1. Configurações de rastreamento do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mlflow.set_tracking_uri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("http://127.0.0.1:5000")</a:t>
            </a: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mlflow.set_experiment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("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wine-classifier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")</a:t>
            </a:r>
          </a:p>
          <a:p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# 2. Carrega e prepara os dados salvos anteriormente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# Ajuste o caminho caso o seu arquivo esteja em 'data/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raw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wine.parquet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'</a:t>
            </a: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df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=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pd.read_parquet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("data/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wine.parquet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")</a:t>
            </a:r>
          </a:p>
          <a:p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X =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df.drop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columns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=["y"])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y =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df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["y"]</a:t>
            </a:r>
          </a:p>
          <a:p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# Divide os dados em treino (80%) e validação (20%)</a:t>
            </a: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X_train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X_val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y_train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y_val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=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train_test_split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(X, y,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test_size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=0.2,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random_state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=42)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6226B5-2920-9B2A-EB2F-DFF34DA42B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32</a:t>
            </a:fld>
            <a:endParaRPr lang="pt-B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9929-60BD-6BFC-A504-93391F9A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F486B-D26D-8BFE-E628-FB35E1F91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t>Instrumentando um treino: código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D32446-F449-76DA-6EEC-0E5D9DC84493}"/>
              </a:ext>
            </a:extLst>
          </p:cNvPr>
          <p:cNvSpPr/>
          <p:nvPr/>
        </p:nvSpPr>
        <p:spPr>
          <a:xfrm>
            <a:off x="1226127" y="955964"/>
            <a:ext cx="7813964" cy="3512127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# 3. Execução do experimento com gerenciamento de contexto do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 err="1">
                <a:solidFill>
                  <a:srgbClr val="222222"/>
                </a:solidFill>
                <a:latin typeface="Consolas"/>
              </a:rPr>
              <a:t>with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mlflow.start_run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run_name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="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rf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-baseline"):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# Definição e registro dos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hiperparâmetros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params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= {"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n_estimators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": 200, "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max_depth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": 8, "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random_state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": 42}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mlflow.log_params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params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)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# Treinamento do modelo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model =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RandomForestClassifier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(**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params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).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fit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X_train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y_train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)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# Avaliação do modelo e registro da métrica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f1 = f1_score(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y_val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model.predict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X_val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),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average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="macro")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mlflow.log_metric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("f1_macro", f1)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print(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f"Modelo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treinado com sucesso! F1-Macro: {f1:.4f}")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# MLflow 3.x: parâmetro é name= (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name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 substitui o antigo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artifact_path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)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mlflow.sklearn.log_model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(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   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sk_model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=model, 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   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name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="model",  # Atualizado para seguir o novo padrão do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MLflow</a:t>
            </a:r>
            <a:endParaRPr lang="pt-BR" sz="1100" dirty="0">
              <a:solidFill>
                <a:srgbClr val="222222"/>
              </a:solidFill>
              <a:latin typeface="Consolas"/>
            </a:endParaRP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    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registered_model_name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="</a:t>
            </a:r>
            <a:r>
              <a:rPr lang="pt-BR" sz="1100" dirty="0" err="1">
                <a:solidFill>
                  <a:srgbClr val="222222"/>
                </a:solidFill>
                <a:latin typeface="Consolas"/>
              </a:rPr>
              <a:t>wine-classifier</a:t>
            </a:r>
            <a:r>
              <a:rPr lang="pt-BR" sz="1100" dirty="0">
                <a:solidFill>
                  <a:srgbClr val="222222"/>
                </a:solidFill>
                <a:latin typeface="Consolas"/>
              </a:rPr>
              <a:t>"</a:t>
            </a:r>
          </a:p>
          <a:p>
            <a:r>
              <a:rPr lang="pt-BR" sz="1100" dirty="0">
                <a:solidFill>
                  <a:srgbClr val="222222"/>
                </a:solidFill>
                <a:latin typeface="Consolas"/>
              </a:rPr>
              <a:t>    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2D5835F-DB4D-7FBE-1048-3176C23D2B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251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 err="1">
                <a:solidFill>
                  <a:srgbClr val="202020"/>
                </a:solidFill>
                <a:latin typeface="Arial"/>
              </a:rPr>
              <a:t>mlflow.autolog</a:t>
            </a:r>
            <a:r>
              <a:rPr dirty="0">
                <a:solidFill>
                  <a:srgbClr val="202020"/>
                </a:solidFill>
                <a:latin typeface="Arial"/>
              </a:rPr>
              <a:t>: </a:t>
            </a:r>
            <a:r>
              <a:rPr dirty="0" err="1">
                <a:solidFill>
                  <a:srgbClr val="202020"/>
                </a:solidFill>
                <a:latin typeface="Arial"/>
              </a:rPr>
              <a:t>útil</a:t>
            </a:r>
            <a:r>
              <a:rPr dirty="0">
                <a:solidFill>
                  <a:srgbClr val="202020"/>
                </a:solidFill>
                <a:latin typeface="Arial"/>
              </a:rPr>
              <a:t> </a:t>
            </a:r>
            <a:r>
              <a:rPr dirty="0" err="1">
                <a:solidFill>
                  <a:srgbClr val="202020"/>
                </a:solidFill>
                <a:latin typeface="Arial"/>
              </a:rPr>
              <a:t>em</a:t>
            </a:r>
            <a:r>
              <a:rPr dirty="0">
                <a:solidFill>
                  <a:srgbClr val="202020"/>
                </a:solidFill>
                <a:latin typeface="Arial"/>
              </a:rPr>
              <a:t> </a:t>
            </a:r>
            <a:r>
              <a:rPr dirty="0" err="1">
                <a:solidFill>
                  <a:srgbClr val="202020"/>
                </a:solidFill>
                <a:latin typeface="Arial"/>
              </a:rPr>
              <a:t>prototipagem</a:t>
            </a:r>
            <a:endParaRPr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Liga rastreamento automático para sklearn, xgboost, pytorch e outros.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Loga params, métricas e artefatos sem você escrever nada.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Perigoso em produção: loga tudo sem critério.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Use em notebooks; em produção, explicite o que loga.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D11FEF-09DB-041A-816D-EC63615425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34</a:t>
            </a:fld>
            <a:endParaRPr lang="pt-B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Model Registry: aliases substituem stages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Antes (até v2.8): stages fixos Staging, Production, Archived.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Hoje (a partir de v2.9): aliases mutáveis com nomes livres.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Padrões úteis: @champion (em produção) e @challenger (em teste).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Permite múltiplos modelos em produção ao mesmo tempo.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6E756DC-6D95-F390-1D9E-CE4B2848AD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35</a:t>
            </a:fld>
            <a:endParaRPr lang="pt-B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Promovendo challenger a champion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23160" y="2194560"/>
            <a:ext cx="1463040" cy="777240"/>
          </a:xfrm>
          <a:prstGeom prst="roundRect">
            <a:avLst/>
          </a:prstGeom>
          <a:solidFill>
            <a:srgbClr val="424242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Arial"/>
              </a:rPr>
              <a:t>Tráfego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de
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produção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40680" y="1554479"/>
            <a:ext cx="2194560" cy="868680"/>
          </a:xfrm>
          <a:prstGeom prst="roundRect">
            <a:avLst/>
          </a:prstGeom>
          <a:solidFill>
            <a:srgbClr val="1B5E20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@champion (v3)
95% do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tráfego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40680" y="2880360"/>
            <a:ext cx="2194560" cy="868680"/>
          </a:xfrm>
          <a:prstGeom prst="roundRect">
            <a:avLst/>
          </a:prstGeom>
          <a:solidFill>
            <a:srgbClr val="E65100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@challenger (v4)
5% (shadow ou canary)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886200" y="1988820"/>
            <a:ext cx="1554480" cy="477774"/>
          </a:xfrm>
          <a:prstGeom prst="line">
            <a:avLst/>
          </a:prstGeom>
          <a:ln w="25400">
            <a:solidFill>
              <a:srgbClr val="1B5E2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86200" y="2699766"/>
            <a:ext cx="1554480" cy="614934"/>
          </a:xfrm>
          <a:prstGeom prst="line">
            <a:avLst/>
          </a:prstGeom>
          <a:ln w="25400">
            <a:solidFill>
              <a:srgbClr val="E6510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39982" y="4162806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202020"/>
                </a:solidFill>
                <a:latin typeface="Arial"/>
              </a:rPr>
              <a:t>Se o challenger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mantiver</a:t>
            </a:r>
            <a:r>
              <a:rPr sz="1200" dirty="0">
                <a:solidFill>
                  <a:srgbClr val="20202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superioridade</a:t>
            </a:r>
            <a:r>
              <a:rPr sz="1200" dirty="0">
                <a:solidFill>
                  <a:srgbClr val="202020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202020"/>
                </a:solidFill>
                <a:latin typeface="Arial"/>
              </a:rPr>
              <a:t>ele</a:t>
            </a:r>
            <a:r>
              <a:rPr sz="1200" dirty="0">
                <a:solidFill>
                  <a:srgbClr val="202020"/>
                </a:solidFill>
                <a:latin typeface="Arial"/>
              </a:rPr>
              <a:t> assume o alias @champion.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91C75D56-4A44-5BAC-6408-1D574567C7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36</a:t>
            </a:fld>
            <a:endParaRPr lang="pt-B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t>Pipeline scikit-learn: anatomia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25880"/>
            <a:ext cx="74066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dirty="0">
                <a:solidFill>
                  <a:srgbClr val="1F1F1F"/>
                </a:solidFill>
                <a:latin typeface="Arial"/>
              </a:rPr>
              <a:t>• 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Definir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transformações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por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tipo</a:t>
            </a:r>
            <a:r>
              <a:rPr sz="1800" dirty="0">
                <a:solidFill>
                  <a:srgbClr val="1F1F1F"/>
                </a:solidFill>
                <a:latin typeface="Arial"/>
              </a:rPr>
              <a:t> de feature (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numérica</a:t>
            </a:r>
            <a:r>
              <a:rPr sz="1800" dirty="0">
                <a:solidFill>
                  <a:srgbClr val="1F1F1F"/>
                </a:solidFill>
                <a:latin typeface="Arial"/>
              </a:rPr>
              <a:t> vs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categórica</a:t>
            </a:r>
            <a:r>
              <a:rPr sz="1800" dirty="0">
                <a:solidFill>
                  <a:srgbClr val="1F1F1F"/>
                </a:solidFill>
                <a:latin typeface="Arial"/>
              </a:rPr>
              <a:t>).</a:t>
            </a:r>
          </a:p>
          <a:p>
            <a:pPr algn="l">
              <a:spcBef>
                <a:spcPts val="1000"/>
              </a:spcBef>
            </a:pPr>
            <a:r>
              <a:rPr sz="1800" dirty="0">
                <a:solidFill>
                  <a:srgbClr val="1F1F1F"/>
                </a:solidFill>
                <a:latin typeface="Arial"/>
              </a:rPr>
              <a:t>• 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Empilhar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transformações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em</a:t>
            </a:r>
            <a:r>
              <a:rPr sz="1800" dirty="0">
                <a:solidFill>
                  <a:srgbClr val="1F1F1F"/>
                </a:solidFill>
                <a:latin typeface="Arial"/>
              </a:rPr>
              <a:t> um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ColumnTransformer</a:t>
            </a:r>
            <a:r>
              <a:rPr sz="1800" dirty="0">
                <a:solidFill>
                  <a:srgbClr val="1F1F1F"/>
                </a:solidFill>
                <a:latin typeface="Arial"/>
              </a:rPr>
              <a:t>.</a:t>
            </a:r>
          </a:p>
          <a:p>
            <a:pPr algn="l">
              <a:spcBef>
                <a:spcPts val="1000"/>
              </a:spcBef>
            </a:pPr>
            <a:r>
              <a:rPr sz="1800" dirty="0">
                <a:solidFill>
                  <a:srgbClr val="1F1F1F"/>
                </a:solidFill>
                <a:latin typeface="Arial"/>
              </a:rPr>
              <a:t>• 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Compor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pré-processamento</a:t>
            </a:r>
            <a:r>
              <a:rPr sz="1800" dirty="0">
                <a:solidFill>
                  <a:srgbClr val="1F1F1F"/>
                </a:solidFill>
                <a:latin typeface="Arial"/>
              </a:rPr>
              <a:t> +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modelo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em</a:t>
            </a:r>
            <a:r>
              <a:rPr sz="1800" dirty="0">
                <a:solidFill>
                  <a:srgbClr val="1F1F1F"/>
                </a:solidFill>
                <a:latin typeface="Arial"/>
              </a:rPr>
              <a:t> um Pipeline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único</a:t>
            </a:r>
            <a:r>
              <a:rPr sz="1800" dirty="0">
                <a:solidFill>
                  <a:srgbClr val="1F1F1F"/>
                </a:solidFill>
                <a:latin typeface="Arial"/>
              </a:rPr>
              <a:t>.</a:t>
            </a:r>
          </a:p>
          <a:p>
            <a:pPr algn="l">
              <a:spcBef>
                <a:spcPts val="1000"/>
              </a:spcBef>
            </a:pPr>
            <a:r>
              <a:rPr sz="1800" dirty="0">
                <a:solidFill>
                  <a:srgbClr val="1F1F1F"/>
                </a:solidFill>
                <a:latin typeface="Arial"/>
              </a:rPr>
              <a:t>• 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pipe.fit</a:t>
            </a:r>
            <a:r>
              <a:rPr sz="1800" dirty="0">
                <a:solidFill>
                  <a:srgbClr val="1F1F1F"/>
                </a:solidFill>
                <a:latin typeface="Arial"/>
              </a:rPr>
              <a:t>()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roda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toda</a:t>
            </a:r>
            <a:r>
              <a:rPr sz="1800" dirty="0">
                <a:solidFill>
                  <a:srgbClr val="1F1F1F"/>
                </a:solidFill>
                <a:latin typeface="Arial"/>
              </a:rPr>
              <a:t> a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cadeia</a:t>
            </a:r>
            <a:r>
              <a:rPr sz="1800" dirty="0">
                <a:solidFill>
                  <a:srgbClr val="1F1F1F"/>
                </a:solidFill>
                <a:latin typeface="Arial"/>
              </a:rPr>
              <a:t>;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mesma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cadeia</a:t>
            </a:r>
            <a:r>
              <a:rPr sz="1800" dirty="0">
                <a:solidFill>
                  <a:srgbClr val="1F1F1F"/>
                </a:solidFill>
                <a:latin typeface="Arial"/>
              </a:rPr>
              <a:t> é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usada</a:t>
            </a:r>
            <a:r>
              <a:rPr sz="1800" dirty="0">
                <a:solidFill>
                  <a:srgbClr val="1F1F1F"/>
                </a:solidFill>
                <a:latin typeface="Arial"/>
              </a:rPr>
              <a:t> no serving.</a:t>
            </a:r>
          </a:p>
          <a:p>
            <a:pPr algn="l">
              <a:spcBef>
                <a:spcPts val="1000"/>
              </a:spcBef>
            </a:pPr>
            <a:r>
              <a:rPr sz="1800" dirty="0">
                <a:solidFill>
                  <a:srgbClr val="1F1F1F"/>
                </a:solidFill>
                <a:latin typeface="Arial"/>
              </a:rPr>
              <a:t>•  Evita a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divergência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treino</a:t>
            </a:r>
            <a:r>
              <a:rPr sz="1800" dirty="0">
                <a:solidFill>
                  <a:srgbClr val="1F1F1F"/>
                </a:solidFill>
                <a:latin typeface="Arial"/>
              </a:rPr>
              <a:t>/serving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que</a:t>
            </a:r>
            <a:r>
              <a:rPr sz="1800" dirty="0">
                <a:solidFill>
                  <a:srgbClr val="1F1F1F"/>
                </a:solidFill>
                <a:latin typeface="Arial"/>
              </a:rPr>
              <a:t> causa bugs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em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produção</a:t>
            </a:r>
            <a:r>
              <a:rPr sz="1800" dirty="0">
                <a:solidFill>
                  <a:srgbClr val="1F1F1F"/>
                </a:solidFill>
                <a:latin typeface="Arial"/>
              </a:rPr>
              <a:t>.</a:t>
            </a:r>
            <a:endParaRPr lang="pt-BR" sz="1800" dirty="0">
              <a:solidFill>
                <a:srgbClr val="1F1F1F"/>
              </a:solidFill>
              <a:latin typeface="Arial"/>
            </a:endParaRPr>
          </a:p>
          <a:p>
            <a:pPr algn="l">
              <a:spcBef>
                <a:spcPts val="1000"/>
              </a:spcBef>
            </a:pPr>
            <a:endParaRPr lang="pt-BR" sz="1800" dirty="0">
              <a:solidFill>
                <a:srgbClr val="1F1F1F"/>
              </a:solidFill>
            </a:endParaRPr>
          </a:p>
          <a:p>
            <a:pPr algn="just">
              <a:spcBef>
                <a:spcPts val="1000"/>
              </a:spcBef>
            </a:pPr>
            <a:r>
              <a:rPr lang="pt-BR" dirty="0">
                <a:solidFill>
                  <a:srgbClr val="1F1F1F"/>
                </a:solidFill>
                <a:latin typeface="Arial"/>
              </a:rPr>
              <a:t>PS.: O </a:t>
            </a:r>
            <a:r>
              <a:rPr lang="pt-BR" dirty="0" err="1">
                <a:solidFill>
                  <a:srgbClr val="1F1F1F"/>
                </a:solidFill>
                <a:latin typeface="Arial"/>
              </a:rPr>
              <a:t>StandardScaler</a:t>
            </a:r>
            <a:r>
              <a:rPr lang="pt-BR" dirty="0">
                <a:solidFill>
                  <a:srgbClr val="1F1F1F"/>
                </a:solidFill>
                <a:latin typeface="Arial"/>
              </a:rPr>
              <a:t> é uma ferramenta de pré-processamento de dados que padroniza features subtraindo a média e dividindo pelo desvio padrão. Isso transforma os dados para que tenham média 0 e variância 1.</a:t>
            </a:r>
            <a:endParaRPr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62CDCB1-8042-E258-F745-A347683782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37</a:t>
            </a:fld>
            <a:endParaRPr lang="pt-B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/>
              <a:t>Pipeline scikit-learn: </a:t>
            </a:r>
            <a:r>
              <a:rPr dirty="0" err="1"/>
              <a:t>código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325879" y="1059873"/>
            <a:ext cx="7603375" cy="3992187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pandas as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pd</a:t>
            </a:r>
            <a:endParaRPr lang="pt-BR" sz="800" dirty="0">
              <a:solidFill>
                <a:srgbClr val="222222"/>
              </a:solidFill>
              <a:latin typeface="Consolas"/>
            </a:endParaRP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sklearn.pipeline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Pipeline</a:t>
            </a: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sklearn.compose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ColumnTransformer</a:t>
            </a:r>
            <a:endParaRPr lang="pt-BR" sz="800" dirty="0">
              <a:solidFill>
                <a:srgbClr val="222222"/>
              </a:solidFill>
              <a:latin typeface="Consolas"/>
            </a:endParaRP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sklearn.preprocessing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StandardScaler</a:t>
            </a:r>
            <a:endParaRPr lang="pt-BR" sz="800" dirty="0">
              <a:solidFill>
                <a:srgbClr val="222222"/>
              </a:solidFill>
              <a:latin typeface="Consolas"/>
            </a:endParaRP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sklearn.ensemble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RandomForestClassifier</a:t>
            </a:r>
            <a:endParaRPr lang="pt-BR" sz="800" dirty="0">
              <a:solidFill>
                <a:srgbClr val="222222"/>
              </a:solidFill>
              <a:latin typeface="Consolas"/>
            </a:endParaRP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sklearn.model_selection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train_test_split</a:t>
            </a:r>
            <a:endParaRPr lang="pt-BR" sz="800" dirty="0">
              <a:solidFill>
                <a:srgbClr val="222222"/>
              </a:solidFill>
              <a:latin typeface="Consolas"/>
            </a:endParaRPr>
          </a:p>
          <a:p>
            <a:endParaRPr lang="pt-BR" sz="800" dirty="0">
              <a:solidFill>
                <a:srgbClr val="222222"/>
              </a:solidFill>
              <a:latin typeface="Consolas"/>
            </a:endParaRP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# 1. Carrega os dados reais do vinho (garantindo que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X_train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existe)</a:t>
            </a: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df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=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pd.read_parquet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("data/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wine.parquet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")</a:t>
            </a: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X =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df.drop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columns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=["y"])</a:t>
            </a: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y =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df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["y"]</a:t>
            </a: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X_train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X_val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y_train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y_val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=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train_test_split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(X, y,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test_size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=0.2,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random_state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=42)</a:t>
            </a:r>
          </a:p>
          <a:p>
            <a:endParaRPr lang="pt-BR" sz="800" dirty="0">
              <a:solidFill>
                <a:srgbClr val="222222"/>
              </a:solidFill>
              <a:latin typeface="Consolas"/>
            </a:endParaRP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# 2. Pega dinamicamente todas as colunas (todas são numéricas no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Wine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dataset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)</a:t>
            </a: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num_features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=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X_train.columns.tolist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()</a:t>
            </a:r>
          </a:p>
          <a:p>
            <a:endParaRPr lang="pt-BR" sz="800" dirty="0">
              <a:solidFill>
                <a:srgbClr val="222222"/>
              </a:solidFill>
              <a:latin typeface="Consolas"/>
            </a:endParaRP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# 3. Cria o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Preprocessador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correto para o vinho</a:t>
            </a: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pre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=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ColumnTransformer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([</a:t>
            </a: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    ("num",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StandardScaler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(),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num_features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),</a:t>
            </a: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])</a:t>
            </a:r>
          </a:p>
          <a:p>
            <a:endParaRPr lang="pt-BR" sz="800" dirty="0">
              <a:solidFill>
                <a:srgbClr val="222222"/>
              </a:solidFill>
              <a:latin typeface="Consolas"/>
            </a:endParaRP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# 4. Monta e treina o Pipeline</a:t>
            </a: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pipe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 = Pipeline([</a:t>
            </a: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    ("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preprocess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",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pre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),</a:t>
            </a: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    ("model",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RandomForestClassifier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n_estimators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=200,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random_state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=42)),</a:t>
            </a: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])</a:t>
            </a:r>
          </a:p>
          <a:p>
            <a:endParaRPr lang="pt-BR" sz="800" dirty="0">
              <a:solidFill>
                <a:srgbClr val="222222"/>
              </a:solidFill>
              <a:latin typeface="Consolas"/>
            </a:endParaRPr>
          </a:p>
          <a:p>
            <a:r>
              <a:rPr lang="pt-BR" sz="800" dirty="0" err="1">
                <a:solidFill>
                  <a:srgbClr val="222222"/>
                </a:solidFill>
                <a:latin typeface="Consolas"/>
              </a:rPr>
              <a:t>pipe.fit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X_train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800" dirty="0" err="1">
                <a:solidFill>
                  <a:srgbClr val="222222"/>
                </a:solidFill>
                <a:latin typeface="Consolas"/>
              </a:rPr>
              <a:t>y_train</a:t>
            </a:r>
            <a:r>
              <a:rPr lang="pt-BR" sz="800" dirty="0">
                <a:solidFill>
                  <a:srgbClr val="222222"/>
                </a:solidFill>
                <a:latin typeface="Consolas"/>
              </a:rPr>
              <a:t>)</a:t>
            </a:r>
          </a:p>
          <a:p>
            <a:r>
              <a:rPr lang="pt-BR" sz="800" dirty="0">
                <a:solidFill>
                  <a:srgbClr val="222222"/>
                </a:solidFill>
                <a:latin typeface="Consolas"/>
              </a:rPr>
              <a:t>print("Pipeline de Vinho treinado com sucesso!")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D0AC73-9D50-E7F4-AB3F-DB1A8DE1B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38</a:t>
            </a:fld>
            <a:endParaRPr lang="pt-B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 sz="3200">
                <a:latin typeface="Arial"/>
              </a:rPr>
              <a:t>Pipeline une treino e serving.</a:t>
            </a:r>
          </a:p>
          <a:p>
            <a:r>
              <a:rPr sz="3200">
                <a:latin typeface="Arial"/>
              </a:rPr>
              <a:t>Fim da divergência.</a:t>
            </a:r>
          </a:p>
        </p:txBody>
      </p:sp>
      <p:pic>
        <p:nvPicPr>
          <p:cNvPr id="4" name="Picture 3" descr="assembly_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D04CA5-14FA-A9D1-6CD0-3DE307D5AD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39</a:t>
            </a:fld>
            <a:endParaRPr lang="pt-B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t>Demo: dois runs com MLflow (anatomia)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25880"/>
            <a:ext cx="740664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F1F1F"/>
                </a:solidFill>
                <a:latin typeface="Arial"/>
              </a:rPr>
              <a:t>•  Terminal 1: subir o tracking server local (SQLite + serve-artifacts).</a:t>
            </a:r>
          </a:p>
          <a:p>
            <a:pPr algn="l"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  <a:latin typeface="Arial"/>
              </a:rPr>
              <a:t>•  Terminal 2: treinar duas variantes (RandomForest + GradientBoosting) com mesmo experimento.</a:t>
            </a:r>
          </a:p>
          <a:p>
            <a:pPr algn="l"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  <a:latin typeface="Arial"/>
              </a:rPr>
              <a:t>•  registered_model_name dispara o Registry automaticamente em cada run.</a:t>
            </a:r>
          </a:p>
          <a:p>
            <a:pPr algn="l"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  <a:latin typeface="Arial"/>
              </a:rPr>
              <a:t>•  Comparar runs lado a lado na UI (Compare → Parallel Coordinates).</a:t>
            </a:r>
          </a:p>
          <a:p>
            <a:pPr algn="l"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  <a:latin typeface="Arial"/>
              </a:rPr>
              <a:t>•  Promover a versão de maior f1 ao alias @champion, que é o que o serving carrega.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1AC6B22-2B28-189D-36AD-8F42D950F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40</a:t>
            </a:fld>
            <a:endParaRPr lang="pt-B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/>
              <a:t>Demo: </a:t>
            </a:r>
            <a:r>
              <a:rPr dirty="0" err="1"/>
              <a:t>dois</a:t>
            </a:r>
            <a:r>
              <a:rPr dirty="0"/>
              <a:t> runs com </a:t>
            </a:r>
            <a:r>
              <a:rPr dirty="0" err="1"/>
              <a:t>MLflow</a:t>
            </a:r>
            <a:r>
              <a:rPr dirty="0"/>
              <a:t> (</a:t>
            </a:r>
            <a:r>
              <a:rPr dirty="0" err="1"/>
              <a:t>código</a:t>
            </a:r>
            <a:r>
              <a:rPr dirty="0"/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9145" y="928254"/>
            <a:ext cx="5902038" cy="4215245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pPr algn="l"/>
            <a:r>
              <a:rPr sz="900" dirty="0">
                <a:solidFill>
                  <a:srgbClr val="222222"/>
                </a:solidFill>
                <a:latin typeface="Consolas"/>
              </a:rPr>
              <a:t># 1) Tracking server local (terminal 1)</a:t>
            </a:r>
          </a:p>
          <a:p>
            <a:pPr algn="l"/>
            <a:r>
              <a:rPr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add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mlflow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;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run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mlflow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server --host 127.0.0.1 --port 5000 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`</a:t>
            </a:r>
            <a:endParaRPr sz="9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900" dirty="0">
                <a:solidFill>
                  <a:srgbClr val="222222"/>
                </a:solidFill>
                <a:latin typeface="Consolas"/>
              </a:rPr>
              <a:t>    --backend-store-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uri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sqlite:///mlflow.db --serve-artifacts</a:t>
            </a:r>
          </a:p>
          <a:p>
            <a:pPr algn="l"/>
            <a:r>
              <a:rPr sz="900" dirty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/>
            <a:r>
              <a:rPr sz="900" dirty="0">
                <a:solidFill>
                  <a:srgbClr val="222222"/>
                </a:solidFill>
                <a:latin typeface="Consolas"/>
              </a:rPr>
              <a:t># 2)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Treinar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duas </a:t>
            </a:r>
            <a:r>
              <a:rPr sz="900" dirty="0" err="1">
                <a:solidFill>
                  <a:srgbClr val="222222"/>
                </a:solidFill>
                <a:latin typeface="Consolas"/>
              </a:rPr>
              <a:t>variantes</a:t>
            </a:r>
            <a:r>
              <a:rPr sz="900" dirty="0">
                <a:solidFill>
                  <a:srgbClr val="222222"/>
                </a:solidFill>
                <a:latin typeface="Consolas"/>
              </a:rPr>
              <a:t> do Wine (terminal 2)</a:t>
            </a:r>
          </a:p>
          <a:p>
            <a:r>
              <a:rPr lang="pt-BR"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run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python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r>
              <a:rPr lang="pt-BR" sz="9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mlflow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mlflow.sklearn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r>
              <a:rPr lang="pt-BR" sz="9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sklearn.datasets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load_wine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r>
              <a:rPr lang="pt-BR" sz="9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sklearn.model_selection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train_test_split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as split</a:t>
            </a:r>
          </a:p>
          <a:p>
            <a:r>
              <a:rPr lang="pt-BR" sz="9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sklearn.ensemble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RandomForestClassifier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as RF,</a:t>
            </a:r>
          </a:p>
          <a:p>
            <a:r>
              <a:rPr lang="pt-BR" sz="900" dirty="0">
                <a:solidFill>
                  <a:srgbClr val="222222"/>
                </a:solidFill>
                <a:latin typeface="Consolas"/>
              </a:rPr>
              <a:t>                             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GradientBoostingClassifier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as GB)</a:t>
            </a:r>
          </a:p>
          <a:p>
            <a:r>
              <a:rPr lang="pt-BR" sz="9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sklearn.metrics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import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f1_score</a:t>
            </a:r>
          </a:p>
          <a:p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r>
              <a:rPr lang="pt-BR" sz="900" dirty="0" err="1">
                <a:solidFill>
                  <a:srgbClr val="222222"/>
                </a:solidFill>
                <a:latin typeface="Consolas"/>
              </a:rPr>
              <a:t>mlflow.set_tracking_uri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('http://127.0.0.1:5000')</a:t>
            </a:r>
          </a:p>
          <a:p>
            <a:r>
              <a:rPr lang="pt-BR" sz="900" dirty="0" err="1">
                <a:solidFill>
                  <a:srgbClr val="222222"/>
                </a:solidFill>
                <a:latin typeface="Consolas"/>
              </a:rPr>
              <a:t>mlflow.set_experiment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('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wine-classifier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')</a:t>
            </a:r>
          </a:p>
          <a:p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r>
              <a:rPr lang="pt-BR" sz="900" dirty="0">
                <a:solidFill>
                  <a:srgbClr val="222222"/>
                </a:solidFill>
                <a:latin typeface="Consolas"/>
              </a:rPr>
              <a:t>X, y =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load_wine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return_X_y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True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)</a:t>
            </a:r>
          </a:p>
          <a:p>
            <a:r>
              <a:rPr lang="pt-BR" sz="900" dirty="0" err="1">
                <a:solidFill>
                  <a:srgbClr val="222222"/>
                </a:solidFill>
                <a:latin typeface="Consolas"/>
              </a:rPr>
              <a:t>Xtr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Xte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ytr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yte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= split(X, y,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test_size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=.2,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random_state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=42,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stratify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=y)</a:t>
            </a:r>
          </a:p>
          <a:p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r>
              <a:rPr lang="pt-BR" sz="900" dirty="0">
                <a:solidFill>
                  <a:srgbClr val="222222"/>
                </a:solidFill>
                <a:latin typeface="Consolas"/>
              </a:rPr>
              <a:t>for nome,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clf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in [('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rf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', RF(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n_estimators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=200,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random_state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=42)),</a:t>
            </a:r>
          </a:p>
          <a:p>
            <a:r>
              <a:rPr lang="pt-BR" sz="900" dirty="0">
                <a:solidFill>
                  <a:srgbClr val="222222"/>
                </a:solidFill>
                <a:latin typeface="Consolas"/>
              </a:rPr>
              <a:t>                  ('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gb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', GB(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n_estimators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=150,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random_state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=42))]:</a:t>
            </a:r>
          </a:p>
          <a:p>
            <a:r>
              <a:rPr lang="pt-BR" sz="900" dirty="0">
                <a:solidFill>
                  <a:srgbClr val="222222"/>
                </a:solidFill>
                <a:latin typeface="Consolas"/>
              </a:rPr>
              <a:t>   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with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mlflow.start_run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run_name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=nome):</a:t>
            </a:r>
          </a:p>
          <a:p>
            <a:r>
              <a:rPr lang="pt-BR" sz="900" dirty="0">
                <a:solidFill>
                  <a:srgbClr val="222222"/>
                </a:solidFill>
                <a:latin typeface="Consolas"/>
              </a:rPr>
              <a:t>       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mlflow.log_params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clf.get_params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())</a:t>
            </a:r>
          </a:p>
          <a:p>
            <a:r>
              <a:rPr lang="pt-BR" sz="900" dirty="0">
                <a:solidFill>
                  <a:srgbClr val="222222"/>
                </a:solidFill>
                <a:latin typeface="Consolas"/>
              </a:rPr>
              <a:t>       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clf.fit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Xtr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ytr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)</a:t>
            </a:r>
          </a:p>
          <a:p>
            <a:r>
              <a:rPr lang="pt-BR" sz="900" dirty="0">
                <a:solidFill>
                  <a:srgbClr val="222222"/>
                </a:solidFill>
                <a:latin typeface="Consolas"/>
              </a:rPr>
              <a:t>       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mlflow.log_metric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('f1', f1_score(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yte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clf.predict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Xte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),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average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='macro'))</a:t>
            </a:r>
          </a:p>
          <a:p>
            <a:r>
              <a:rPr lang="pt-BR" sz="900" dirty="0">
                <a:solidFill>
                  <a:srgbClr val="222222"/>
                </a:solidFill>
                <a:latin typeface="Consolas"/>
              </a:rPr>
              <a:t>        # Alterado para um nome genérico que engloba as duas versões/arquiteturas</a:t>
            </a:r>
          </a:p>
          <a:p>
            <a:r>
              <a:rPr lang="pt-BR" sz="900" dirty="0">
                <a:solidFill>
                  <a:srgbClr val="222222"/>
                </a:solidFill>
                <a:latin typeface="Consolas"/>
              </a:rPr>
              <a:t>       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mlflow.sklearn.log_model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clf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, 'model',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registered_model_name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='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wine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-classifier')</a:t>
            </a:r>
            <a:endParaRPr sz="9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903B4F-D75B-0FAA-5156-DE5F74B877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41</a:t>
            </a:fld>
            <a:endParaRPr lang="pt-B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2B69-FB29-A62D-B180-3EB6F37AD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D61F-2BCF-902F-541E-7F4243633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t>Demo: dois runs com MLflow (código)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337D4B-7C31-B52D-AC8D-E915A32E4267}"/>
              </a:ext>
            </a:extLst>
          </p:cNvPr>
          <p:cNvSpPr/>
          <p:nvPr/>
        </p:nvSpPr>
        <p:spPr>
          <a:xfrm>
            <a:off x="1325880" y="1188720"/>
            <a:ext cx="7406640" cy="865909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# 3) UI http://127.0.0.1:5000 -&gt;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selecionar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os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2 runs -&gt; Compare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# 4)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Promover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a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melhor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versao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a @champion (via Models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ou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CLI)</a:t>
            </a:r>
          </a:p>
          <a:p>
            <a:pPr algn="l"/>
            <a:r>
              <a:rPr sz="1200" dirty="0" err="1">
                <a:solidFill>
                  <a:srgbClr val="222222"/>
                </a:solidFill>
                <a:latin typeface="Consolas"/>
              </a:rPr>
              <a:t>client.set_registered_model_alias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('wine-classifier', 'champion', '&lt;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versao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&gt;')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7A7AE5-D60F-5DF0-4F2F-A0BF540363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9442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36" y="445025"/>
            <a:ext cx="7502264" cy="704902"/>
          </a:xfrm>
        </p:spPr>
        <p:txBody>
          <a:bodyPr>
            <a:normAutofit/>
          </a:bodyPr>
          <a:lstStyle/>
          <a:p>
            <a:r>
              <a:rPr dirty="0"/>
              <a:t>Demo: </a:t>
            </a:r>
            <a:r>
              <a:rPr dirty="0" err="1"/>
              <a:t>comparando</a:t>
            </a:r>
            <a:r>
              <a:rPr dirty="0"/>
              <a:t> runs no </a:t>
            </a:r>
            <a:r>
              <a:rPr dirty="0" err="1"/>
              <a:t>MLflow</a:t>
            </a:r>
            <a:r>
              <a:rPr dirty="0"/>
              <a:t> (UI)</a:t>
            </a:r>
          </a:p>
        </p:txBody>
      </p:sp>
      <p:pic>
        <p:nvPicPr>
          <p:cNvPr id="3" name="Picture 2" descr="mlflow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80" y="1300000"/>
            <a:ext cx="5333040" cy="370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/>
              <a:t>Promover a @champion: codigo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939180"/>
            <a:ext cx="7406640" cy="400000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from mlflow import MlflowClient</a:t>
            </a:r>
          </a:p>
          <a:p>
            <a:pPr algn="l"/>
            <a:endParaRPr sz="110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client = MlflowClient("http://127.0.0.1:5000")</a:t>
            </a:r>
          </a:p>
          <a:p>
            <a:pPr algn="l"/>
            <a:endParaRPr sz="110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# escolhe a melhor versao por f1_macro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versoes = client.search_model_versions("name='wine-classifier'")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best = max(versoes,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key=lambda v: client.get_run(v.run_id).data.metrics["f1_macro"])</a:t>
            </a:r>
          </a:p>
          <a:p>
            <a:pPr algn="l"/>
            <a:endParaRPr sz="110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# aponta o alias que o serving carrega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client.set_registered_model_alias(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"wine-classifier", "champion", best.version)</a:t>
            </a:r>
          </a:p>
          <a:p>
            <a:pPr algn="l"/>
            <a:endParaRPr sz="110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# registrar != producao: PROMOVER e o que poe em producao.</a:t>
            </a:r>
          </a:p>
        </p:txBody>
      </p:sp>
      <p:sp>
        <p:nvSpPr>
          <p:cNvPr id="5" name="Numero de Slide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44</a:t>
            </a:fld>
            <a:endParaRPr lang="pt-B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890" y="445024"/>
            <a:ext cx="7488409" cy="697975"/>
          </a:xfrm>
        </p:spPr>
        <p:txBody>
          <a:bodyPr>
            <a:normAutofit/>
          </a:bodyPr>
          <a:lstStyle/>
          <a:p>
            <a:r>
              <a:rPr dirty="0"/>
              <a:t>Model Registry: alias @champion (UI)</a:t>
            </a:r>
          </a:p>
        </p:txBody>
      </p:sp>
      <p:pic>
        <p:nvPicPr>
          <p:cNvPr id="3" name="Picture 2" descr="mlflow_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200" y="1300000"/>
            <a:ext cx="5925600" cy="370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Resumo da Unidade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MLflow Tracking captura params, métricas e artefatos por run.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Model Registry guarda versões e aliases (champion, challenger).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Pipelines do sklearn evitam divergência treino-serving.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Tudo isso é base do A/B automatizado que veremos no domingo.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A687218-16A1-C5F8-0CC6-CA2FF000D3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46</a:t>
            </a:fld>
            <a:endParaRPr lang="pt-B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Intervalo até 20h25</a:t>
            </a:r>
          </a:p>
        </p:txBody>
      </p:sp>
      <p:pic>
        <p:nvPicPr>
          <p:cNvPr id="4" name="Picture 3" descr="coffee_break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D1DFE0-7AAD-7BEE-FD63-9931243FB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47</a:t>
            </a:fld>
            <a:endParaRPr lang="pt-B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011680"/>
            <a:ext cx="7406640" cy="109728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Unidade 3 (parte 1)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C2BB78-3EBA-74C1-5714-4180417FB7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48</a:t>
            </a:fld>
            <a:endParaRPr lang="pt-B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Batch, Online, Streaming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3657600" cy="3223259"/>
          </a:xfrm>
        </p:spPr>
        <p:txBody>
          <a:bodyPr wrap="square"/>
          <a:lstStyle/>
          <a:p>
            <a:r>
              <a:rPr sz="1400">
                <a:solidFill>
                  <a:srgbClr val="202020"/>
                </a:solidFill>
                <a:latin typeface="Arial"/>
              </a:rPr>
              <a:t>Batch (offline):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modelo roda em lote sobre N registros.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latência da decisão: minutos a horas.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mais simples; serve maioria dos casos analíticos.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074920" y="1280160"/>
            <a:ext cx="3657600" cy="3223259"/>
          </a:xfrm>
        </p:spPr>
        <p:txBody>
          <a:bodyPr wrap="square"/>
          <a:lstStyle/>
          <a:p>
            <a:r>
              <a:rPr sz="1400">
                <a:solidFill>
                  <a:srgbClr val="202020"/>
                </a:solidFill>
                <a:latin typeface="Arial"/>
              </a:rPr>
              <a:t>Online (real-time):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API HTTP/gRPC sob demanda.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latência: 10 a 200 ms.</a:t>
            </a:r>
          </a:p>
          <a:p>
            <a:r>
              <a:rPr sz="1400">
                <a:solidFill>
                  <a:srgbClr val="202020"/>
                </a:solidFill>
                <a:latin typeface="Arial"/>
              </a:rPr>
              <a:t>Streaming: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consome eventos de Kafka/Kinesis, escreve em outro tópico.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3713A9-3F6E-2F02-F4FD-F0ECB8B8A0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49</a:t>
            </a:fld>
            <a:endParaRPr lang="pt-B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Streaming: predição sobre fluxo de eventos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3657600" cy="3223259"/>
          </a:xfrm>
        </p:spPr>
        <p:txBody>
          <a:bodyPr wrap="square"/>
          <a:lstStyle/>
          <a:p>
            <a:r>
              <a:rPr sz="1400" b="1">
                <a:solidFill>
                  <a:srgbClr val="202020"/>
                </a:solidFill>
                <a:latin typeface="Arial"/>
              </a:rPr>
              <a:t>Como funciona: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consome eventos de um tópico (Kafka, Kinesis, Pub/Sub).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aplica o modelo evento a evento ou em micro-lotes.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publica a predição em outro tópico ou data store.</a:t>
            </a:r>
          </a:p>
          <a:p>
            <a:r>
              <a:rPr sz="1400" b="1">
                <a:solidFill>
                  <a:srgbClr val="202020"/>
                </a:solidFill>
                <a:latin typeface="Arial"/>
              </a:rPr>
              <a:t>Latência: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segundos; fica entre o online e o batch.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074920" y="1280160"/>
            <a:ext cx="3657600" cy="3223259"/>
          </a:xfrm>
        </p:spPr>
        <p:txBody>
          <a:bodyPr wrap="square">
            <a:normAutofit lnSpcReduction="10000"/>
          </a:bodyPr>
          <a:lstStyle/>
          <a:p>
            <a:r>
              <a:rPr sz="1400" b="1">
                <a:solidFill>
                  <a:srgbClr val="202020"/>
                </a:solidFill>
                <a:latin typeface="Arial"/>
              </a:rPr>
              <a:t>Quando usar: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detecção de fraude em transações ao vivo.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recomendação reativa a cliques e eventos.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monitoramento de sensores (IoT) e alertas.</a:t>
            </a:r>
          </a:p>
          <a:p>
            <a:r>
              <a:rPr sz="1400" b="1">
                <a:solidFill>
                  <a:srgbClr val="202020"/>
                </a:solidFill>
                <a:latin typeface="Arial"/>
              </a:rPr>
              <a:t>Trade-offs: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alto throughput contínuo, sem requisição síncrona.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exige mensageria e processamento de stream (mais complexo de operar).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56F360-A7C6-C468-D2FB-3F36965E90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50</a:t>
            </a:fld>
            <a:endParaRPr lang="pt-B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 sz="2800">
                <a:latin typeface="Arial"/>
              </a:rPr>
              <a:t>Decide em &lt; 1 s?  Online.</a:t>
            </a:r>
          </a:p>
          <a:p>
            <a:r>
              <a:rPr sz="2800">
                <a:latin typeface="Arial"/>
              </a:rPr>
              <a:t>Pode esperar o lote?  Batch.</a:t>
            </a:r>
          </a:p>
        </p:txBody>
      </p:sp>
      <p:pic>
        <p:nvPicPr>
          <p:cNvPr id="4" name="Picture 3" descr="stopwa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918217-8204-DC51-8644-B63CBEA7FA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51</a:t>
            </a:fld>
            <a:endParaRPr lang="pt-B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Por que FastAPI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448056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Validação automática de payload via Pydantic v2.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Documentação OpenAPI gerada em /docs.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Suporte assíncrono nativo (importante para concorrência).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Mais rápido que Flask para serving JSON.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Sintaxe declarativa (decoradores e tipos).</a:t>
            </a:r>
          </a:p>
        </p:txBody>
      </p:sp>
      <p:pic>
        <p:nvPicPr>
          <p:cNvPr id="5" name="Picture 4" descr="light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283266-A27D-90CA-0D14-FE9C388139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52</a:t>
            </a:fld>
            <a:endParaRPr lang="pt-B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Endpoints padrão de um serving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GET /health: liveness e readiness probe.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POST /predict: predição unitária.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POST /predict/batch: predição em lote (cuidado com payload grande).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GET /metrics: scrape do Prometheus (latência p50/p95, contadores).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CA9F948-8BB4-E591-A314-27FEE3C62D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53</a:t>
            </a:fld>
            <a:endParaRPr lang="pt-B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 err="1"/>
              <a:t>Microsserviço</a:t>
            </a:r>
            <a:r>
              <a:rPr dirty="0"/>
              <a:t> </a:t>
            </a:r>
            <a:r>
              <a:rPr dirty="0" err="1"/>
              <a:t>FastAPI</a:t>
            </a:r>
            <a:r>
              <a:rPr dirty="0"/>
              <a:t>: </a:t>
            </a:r>
            <a:r>
              <a:rPr dirty="0" err="1"/>
              <a:t>anatomia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325880" y="1325880"/>
            <a:ext cx="740664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dirty="0">
                <a:solidFill>
                  <a:srgbClr val="1F1F1F"/>
                </a:solidFill>
                <a:latin typeface="Arial"/>
              </a:rPr>
              <a:t>•  lifespan()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roda</a:t>
            </a:r>
            <a:r>
              <a:rPr sz="1800" dirty="0">
                <a:solidFill>
                  <a:srgbClr val="1F1F1F"/>
                </a:solidFill>
                <a:latin typeface="Arial"/>
              </a:rPr>
              <a:t> no startup do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servidor</a:t>
            </a:r>
            <a:r>
              <a:rPr sz="1800" dirty="0">
                <a:solidFill>
                  <a:srgbClr val="1F1F1F"/>
                </a:solidFill>
                <a:latin typeface="Arial"/>
              </a:rPr>
              <a:t> e no shutdown.</a:t>
            </a:r>
          </a:p>
          <a:p>
            <a:pPr algn="l">
              <a:spcBef>
                <a:spcPts val="1000"/>
              </a:spcBef>
            </a:pPr>
            <a:r>
              <a:rPr sz="1800" dirty="0">
                <a:solidFill>
                  <a:srgbClr val="1F1F1F"/>
                </a:solidFill>
                <a:latin typeface="Arial"/>
              </a:rPr>
              <a:t>•  Modelo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carrega</a:t>
            </a:r>
            <a:r>
              <a:rPr sz="1800" dirty="0">
                <a:solidFill>
                  <a:srgbClr val="1F1F1F"/>
                </a:solidFill>
                <a:latin typeface="Arial"/>
              </a:rPr>
              <a:t> UMA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vez</a:t>
            </a:r>
            <a:r>
              <a:rPr sz="1800" dirty="0">
                <a:solidFill>
                  <a:srgbClr val="1F1F1F"/>
                </a:solidFill>
                <a:latin typeface="Arial"/>
              </a:rPr>
              <a:t> (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mlflow.sklearn.load_model</a:t>
            </a:r>
            <a:r>
              <a:rPr sz="1800" dirty="0">
                <a:solidFill>
                  <a:srgbClr val="1F1F1F"/>
                </a:solidFill>
                <a:latin typeface="Arial"/>
              </a:rPr>
              <a:t> do alias @champion).</a:t>
            </a:r>
          </a:p>
          <a:p>
            <a:pPr algn="l">
              <a:spcBef>
                <a:spcPts val="1000"/>
              </a:spcBef>
            </a:pPr>
            <a:r>
              <a:rPr sz="1800" dirty="0">
                <a:solidFill>
                  <a:srgbClr val="1F1F1F"/>
                </a:solidFill>
                <a:latin typeface="Arial"/>
              </a:rPr>
              <a:t>•  Estado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vive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em</a:t>
            </a:r>
            <a:r>
              <a:rPr sz="1800" dirty="0">
                <a:solidFill>
                  <a:srgbClr val="1F1F1F"/>
                </a:solidFill>
                <a:latin typeface="Arial"/>
              </a:rPr>
              <a:t> um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dict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compartilhado</a:t>
            </a:r>
            <a:r>
              <a:rPr sz="1800" dirty="0">
                <a:solidFill>
                  <a:srgbClr val="1F1F1F"/>
                </a:solidFill>
                <a:latin typeface="Arial"/>
              </a:rPr>
              <a:t> entre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requisições</a:t>
            </a:r>
            <a:r>
              <a:rPr sz="1800" dirty="0">
                <a:solidFill>
                  <a:srgbClr val="1F1F1F"/>
                </a:solidFill>
                <a:latin typeface="Arial"/>
              </a:rPr>
              <a:t>.</a:t>
            </a:r>
          </a:p>
          <a:p>
            <a:pPr algn="l">
              <a:spcBef>
                <a:spcPts val="1000"/>
              </a:spcBef>
            </a:pPr>
            <a:r>
              <a:rPr sz="1800" dirty="0">
                <a:solidFill>
                  <a:srgbClr val="1F1F1F"/>
                </a:solidFill>
                <a:latin typeface="Arial"/>
              </a:rPr>
              <a:t>•  app =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FastAPI</a:t>
            </a:r>
            <a:r>
              <a:rPr sz="1800" dirty="0">
                <a:solidFill>
                  <a:srgbClr val="1F1F1F"/>
                </a:solidFill>
                <a:latin typeface="Arial"/>
              </a:rPr>
              <a:t>(lifespan=lifespan)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plugga</a:t>
            </a:r>
            <a:r>
              <a:rPr sz="1800" dirty="0">
                <a:solidFill>
                  <a:srgbClr val="1F1F1F"/>
                </a:solidFill>
                <a:latin typeface="Arial"/>
              </a:rPr>
              <a:t> o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ciclo</a:t>
            </a:r>
            <a:r>
              <a:rPr sz="1800" dirty="0">
                <a:solidFill>
                  <a:srgbClr val="1F1F1F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vida</a:t>
            </a:r>
            <a:r>
              <a:rPr sz="1800" dirty="0">
                <a:solidFill>
                  <a:srgbClr val="1F1F1F"/>
                </a:solidFill>
                <a:latin typeface="Arial"/>
              </a:rPr>
              <a:t>.</a:t>
            </a:r>
          </a:p>
          <a:p>
            <a:pPr algn="l">
              <a:spcBef>
                <a:spcPts val="1000"/>
              </a:spcBef>
            </a:pPr>
            <a:r>
              <a:rPr sz="1800" dirty="0">
                <a:solidFill>
                  <a:srgbClr val="1F1F1F"/>
                </a:solidFill>
                <a:latin typeface="Arial"/>
              </a:rPr>
              <a:t>•  /health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responde</a:t>
            </a:r>
            <a:r>
              <a:rPr sz="1800" dirty="0">
                <a:solidFill>
                  <a:srgbClr val="1F1F1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1F1F"/>
                </a:solidFill>
                <a:latin typeface="Arial"/>
              </a:rPr>
              <a:t>rápido</a:t>
            </a:r>
            <a:r>
              <a:rPr sz="1800" dirty="0">
                <a:solidFill>
                  <a:srgbClr val="1F1F1F"/>
                </a:solidFill>
                <a:latin typeface="Arial"/>
              </a:rPr>
              <a:t>; serve para liveness e readiness probes.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44F4C10-BEAC-0864-7B4C-11E626540B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54</a:t>
            </a:fld>
            <a:endParaRPr lang="pt-B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 err="1"/>
              <a:t>Microsserviço</a:t>
            </a:r>
            <a:r>
              <a:rPr dirty="0"/>
              <a:t> </a:t>
            </a:r>
            <a:r>
              <a:rPr dirty="0" err="1"/>
              <a:t>FastAPI</a:t>
            </a:r>
            <a:r>
              <a:rPr dirty="0"/>
              <a:t>: </a:t>
            </a:r>
            <a:r>
              <a:rPr dirty="0" err="1"/>
              <a:t>código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325880" y="939180"/>
            <a:ext cx="5421284" cy="3920837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from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contextlib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import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asynccontextmanager</a:t>
            </a:r>
            <a:endParaRPr sz="12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from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fastapi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 import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FastAPI</a:t>
            </a:r>
            <a:endParaRPr sz="12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import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mlflow.sklearn</a:t>
            </a:r>
            <a:endParaRPr sz="12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state = {}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@asynccontextmanager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async def lifespan(app):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    state["model"] =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mlflow.sklearn.load_model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(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        "models:/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wine-classifier@champion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"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    )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    yield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   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state.clear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()</a:t>
            </a:r>
          </a:p>
          <a:p>
            <a:pPr algn="l"/>
            <a:endParaRPr sz="12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app = </a:t>
            </a:r>
            <a:r>
              <a:rPr sz="1200" dirty="0" err="1">
                <a:solidFill>
                  <a:srgbClr val="222222"/>
                </a:solidFill>
                <a:latin typeface="Consolas"/>
              </a:rPr>
              <a:t>FastAPI</a:t>
            </a:r>
            <a:r>
              <a:rPr sz="1200" dirty="0">
                <a:solidFill>
                  <a:srgbClr val="222222"/>
                </a:solidFill>
                <a:latin typeface="Consolas"/>
              </a:rPr>
              <a:t>(title="wine-classifier", lifespan=lifespan)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@app.get("/health")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def health():</a:t>
            </a:r>
          </a:p>
          <a:p>
            <a:pPr algn="l"/>
            <a:r>
              <a:rPr sz="1200" dirty="0">
                <a:solidFill>
                  <a:srgbClr val="222222"/>
                </a:solidFill>
                <a:latin typeface="Consolas"/>
              </a:rPr>
              <a:t>    return {"status": "ok"}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C6113A-9DF6-51FB-EE4D-98D02A7CBF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55</a:t>
            </a:fld>
            <a:endParaRPr lang="pt-B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/>
              <a:t>/predict e validacao: codigo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939180"/>
            <a:ext cx="7406640" cy="400000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from pydantic import BaseModel</a:t>
            </a:r>
          </a:p>
          <a:p>
            <a:pPr algn="l"/>
            <a:endParaRPr sz="110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class WineInput(BaseModel):        # 13 features do Wine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alcohol: float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malic_acid: float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# ... (as demais features numericas) ...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od280_od315_of_diluted_wines: float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proline: float</a:t>
            </a:r>
          </a:p>
          <a:p>
            <a:pPr algn="l"/>
            <a:endParaRPr sz="110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@app.post("/predict")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def predict(data: WineInput):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df = pd.DataFrame([data.model_dump()])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pred = state["model"].predict(df)   # Pipeline com scaler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  return {"prediction": int(pred[0])}</a:t>
            </a:r>
          </a:p>
        </p:txBody>
      </p:sp>
      <p:sp>
        <p:nvSpPr>
          <p:cNvPr id="5" name="Numero de Slide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56</a:t>
            </a:fld>
            <a:endParaRPr lang="pt-B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8472" y="445025"/>
            <a:ext cx="7543827" cy="649484"/>
          </a:xfrm>
        </p:spPr>
        <p:txBody>
          <a:bodyPr>
            <a:normAutofit/>
          </a:bodyPr>
          <a:lstStyle/>
          <a:p>
            <a:r>
              <a:rPr dirty="0" err="1"/>
              <a:t>FastAPI</a:t>
            </a:r>
            <a:r>
              <a:rPr dirty="0"/>
              <a:t>: </a:t>
            </a:r>
            <a:r>
              <a:rPr dirty="0" err="1"/>
              <a:t>documentacao</a:t>
            </a:r>
            <a:r>
              <a:rPr dirty="0"/>
              <a:t> /docs (UI)</a:t>
            </a:r>
          </a:p>
        </p:txBody>
      </p:sp>
      <p:pic>
        <p:nvPicPr>
          <p:cNvPr id="3" name="Picture 2" descr="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200" y="1300000"/>
            <a:ext cx="5925600" cy="370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 sz="3000" dirty="0" err="1">
                <a:latin typeface="Arial"/>
              </a:rPr>
              <a:t>Carregue</a:t>
            </a:r>
            <a:r>
              <a:rPr sz="3000" dirty="0">
                <a:latin typeface="Arial"/>
              </a:rPr>
              <a:t> o </a:t>
            </a:r>
            <a:r>
              <a:rPr sz="3000" dirty="0" err="1">
                <a:latin typeface="Arial"/>
              </a:rPr>
              <a:t>modelo</a:t>
            </a:r>
            <a:r>
              <a:rPr sz="3000" dirty="0">
                <a:latin typeface="Arial"/>
              </a:rPr>
              <a:t> no startup.</a:t>
            </a:r>
          </a:p>
          <a:p>
            <a:r>
              <a:rPr sz="3000" dirty="0">
                <a:latin typeface="Arial"/>
              </a:rPr>
              <a:t>Nunca </a:t>
            </a:r>
            <a:r>
              <a:rPr sz="3000" dirty="0" err="1">
                <a:latin typeface="Arial"/>
              </a:rPr>
              <a:t>dentro</a:t>
            </a:r>
            <a:r>
              <a:rPr sz="3000" dirty="0">
                <a:latin typeface="Arial"/>
              </a:rPr>
              <a:t> do /predict.</a:t>
            </a:r>
          </a:p>
        </p:txBody>
      </p:sp>
      <p:pic>
        <p:nvPicPr>
          <p:cNvPr id="4" name="Picture 3" descr="code_dark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94629F-8C71-E4F3-418E-0DD0319FC4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58</a:t>
            </a:fld>
            <a:endParaRPr lang="pt-B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 err="1">
                <a:solidFill>
                  <a:srgbClr val="202020"/>
                </a:solidFill>
                <a:latin typeface="Arial"/>
              </a:rPr>
              <a:t>Dockerfile</a:t>
            </a:r>
            <a:r>
              <a:rPr dirty="0">
                <a:solidFill>
                  <a:srgbClr val="202020"/>
                </a:solidFill>
                <a:latin typeface="Arial"/>
              </a:rPr>
              <a:t> multi-stage </a:t>
            </a:r>
            <a:r>
              <a:rPr dirty="0" err="1">
                <a:solidFill>
                  <a:srgbClr val="202020"/>
                </a:solidFill>
                <a:latin typeface="Arial"/>
              </a:rPr>
              <a:t>enxuto</a:t>
            </a:r>
            <a:endParaRPr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325880" y="990600"/>
            <a:ext cx="5345083" cy="374142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#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Dockerfile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multi-stage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enxuto.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#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#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stage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1 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builder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): instala dependências com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num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venv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isolado.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#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stage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2 (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runtime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): copia só o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venv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+ o código, imagem final pequena.</a:t>
            </a:r>
          </a:p>
          <a:p>
            <a:pPr algn="l"/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# ----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stage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1: build ----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FROM python:3.11-slim AS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builder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RUN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pip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install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--no-cache-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dir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uv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WORKDIR /app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COPY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pyproject.toml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uv.lock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./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# --frozen: respeita o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lock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; --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no-dev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: não instala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pytest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/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ruff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em produção.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RUN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uv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sync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--frozen --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no-dev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pPr algn="l"/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# ----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stage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2: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runtime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----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FROM python:3.11-slim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WORKDIR /app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COPY --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from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=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builder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/app/.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venv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/app/.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venv</a:t>
            </a:r>
            <a:endParaRPr lang="pt-BR" sz="9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COPY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src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/ ./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src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/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ENV PATH="/app/.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venv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/bin:$PATH"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# O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serving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precisa falar com o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MLflow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do HOST. Em Docker Desktop, o host é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# acessível por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host.docker.internal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. Pode ser sobrescrito no `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docker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 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run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`.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ENV MLFLOW_TRACKING_URI="http://host.docker.internal:5000"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EXPOSE 8000</a:t>
            </a:r>
          </a:p>
          <a:p>
            <a:pPr algn="l"/>
            <a:r>
              <a:rPr lang="pt-BR" sz="900" dirty="0">
                <a:solidFill>
                  <a:srgbClr val="222222"/>
                </a:solidFill>
                <a:latin typeface="Consolas"/>
              </a:rPr>
              <a:t>CMD ["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uvicorn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", "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src.api.main:app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", "--host", "0.0.0.0", "--</a:t>
            </a:r>
            <a:r>
              <a:rPr lang="pt-BR" sz="900" dirty="0" err="1">
                <a:solidFill>
                  <a:srgbClr val="222222"/>
                </a:solidFill>
                <a:latin typeface="Consolas"/>
              </a:rPr>
              <a:t>port</a:t>
            </a:r>
            <a:r>
              <a:rPr lang="pt-BR" sz="900" dirty="0">
                <a:solidFill>
                  <a:srgbClr val="222222"/>
                </a:solidFill>
                <a:latin typeface="Consolas"/>
              </a:rPr>
              <a:t>", "8000"]</a:t>
            </a:r>
            <a:endParaRPr sz="90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84A9582-3C0B-B686-914E-7713DF226A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59</a:t>
            </a:fld>
            <a:endParaRPr lang="pt-B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 dirty="0">
                <a:solidFill>
                  <a:srgbClr val="202020"/>
                </a:solidFill>
                <a:latin typeface="Arial"/>
              </a:rPr>
              <a:t>Build, run e </a:t>
            </a:r>
            <a:r>
              <a:rPr dirty="0" err="1">
                <a:solidFill>
                  <a:srgbClr val="202020"/>
                </a:solidFill>
                <a:latin typeface="Arial"/>
              </a:rPr>
              <a:t>healthcheck</a:t>
            </a:r>
            <a:endParaRPr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1325880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Build da imagem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655064"/>
            <a:ext cx="7406640" cy="676656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docker build -t wine-classifier:0.1.0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23160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Rodar e testar /health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752344"/>
            <a:ext cx="7406640" cy="676656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docker run --rm -p 8000:8000 wine-classifier:0.1.0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curl http://localhost:8000/health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# {"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status":"ok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"}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20440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Chamar /predict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3849624"/>
            <a:ext cx="7406640" cy="676656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curl -X POST http://localhost:8000/predict \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-H 'content-type: application/</a:t>
            </a:r>
            <a:r>
              <a:rPr sz="1100" dirty="0" err="1">
                <a:solidFill>
                  <a:srgbClr val="222222"/>
                </a:solidFill>
                <a:latin typeface="Consolas"/>
              </a:rPr>
              <a:t>json</a:t>
            </a:r>
            <a:r>
              <a:rPr sz="1100" dirty="0">
                <a:solidFill>
                  <a:srgbClr val="222222"/>
                </a:solidFill>
                <a:latin typeface="Consolas"/>
              </a:rPr>
              <a:t>' \</a:t>
            </a:r>
          </a:p>
          <a:p>
            <a:pPr algn="l"/>
            <a:r>
              <a:rPr sz="1100" dirty="0">
                <a:solidFill>
                  <a:srgbClr val="222222"/>
                </a:solidFill>
                <a:latin typeface="Consolas"/>
              </a:rPr>
              <a:t>  -d '{"alcohol": 13.2, ...}'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2A1E1CB-3649-A042-B888-5B72668240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60</a:t>
            </a:fld>
            <a:endParaRPr lang="pt-B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O que fechamos hoje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Stack de MLOps montada: uv, Git, DVC, MLflow, FastAPI, Docker.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Modelo treinado, registrado e exposto via API.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Amanhã: CI/CD com GitHub Actions, estratégias de rollout, monitoramento e drift.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Amanhã também: avaliação completa (Prova Objetiva + Atividade Prática).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70B79D-F941-A2E5-FEFD-31D49C783C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61</a:t>
            </a:fld>
            <a:endParaRPr lang="pt-B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Até amanhã às 08h45</a:t>
            </a:r>
          </a:p>
        </p:txBody>
      </p:sp>
      <p:pic>
        <p:nvPicPr>
          <p:cNvPr id="4" name="Picture 3" descr="suns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D9F0744-F0A4-DDF6-558A-ACF10BFAD3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62</a:t>
            </a:fld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5505</Words>
  <Application>Microsoft Office PowerPoint</Application>
  <PresentationFormat>Apresentação na tela (16:9)</PresentationFormat>
  <Paragraphs>674</Paragraphs>
  <Slides>62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62</vt:i4>
      </vt:variant>
    </vt:vector>
  </HeadingPairs>
  <TitlesOfParts>
    <vt:vector size="66" baseType="lpstr">
      <vt:lpstr>Arial</vt:lpstr>
      <vt:lpstr>Wingdings</vt:lpstr>
      <vt:lpstr>Consolas</vt:lpstr>
      <vt:lpstr>Simple Light</vt:lpstr>
      <vt:lpstr>MLOps</vt:lpstr>
      <vt:lpstr>Apresentação</vt:lpstr>
      <vt:lpstr>Referências</vt:lpstr>
      <vt:lpstr>Agenda do sábado</vt:lpstr>
      <vt:lpstr>Stack do módulo</vt:lpstr>
      <vt:lpstr>Configure e valide sua stack</vt:lpstr>
      <vt:lpstr>Configure e valide sua stack</vt:lpstr>
      <vt:lpstr>GitHub: repo do curso pronto</vt:lpstr>
      <vt:lpstr>Unidade 1</vt:lpstr>
      <vt:lpstr>Do notebook à produção. E mantê-lo lá.</vt:lpstr>
      <vt:lpstr>Notebook vs. Produção</vt:lpstr>
      <vt:lpstr>Ciclo de vida do modelo em produção</vt:lpstr>
      <vt:lpstr>Os três blocos da ementa</vt:lpstr>
      <vt:lpstr>Papéis em MLOps</vt:lpstr>
      <vt:lpstr>Ambientes reprodutíveis: três condições</vt:lpstr>
      <vt:lpstr>uv em 5 minutos</vt:lpstr>
      <vt:lpstr>pyproject.toml</vt:lpstr>
      <vt:lpstr>Docker como container de desenvolvimento</vt:lpstr>
      <vt:lpstr>Git para ML: o que muda</vt:lpstr>
      <vt:lpstr>Por que DVC</vt:lpstr>
      <vt:lpstr>Comandos DVC essenciais</vt:lpstr>
      <vt:lpstr>Demo: bootstrap do projeto com uv e DVC</vt:lpstr>
      <vt:lpstr>Estrutura do projeto</vt:lpstr>
      <vt:lpstr>Pipeline declarativo com dvc.yaml</vt:lpstr>
      <vt:lpstr>Resumo da Unidade 1</vt:lpstr>
      <vt:lpstr>Intervalo até 17h15</vt:lpstr>
      <vt:lpstr>Unidade 2</vt:lpstr>
      <vt:lpstr>MLflow: quatro componentes principais</vt:lpstr>
      <vt:lpstr>Anatomia do Tracking</vt:lpstr>
      <vt:lpstr>Subindo um Tracking Server local</vt:lpstr>
      <vt:lpstr>Instrumentando um treino: anatomia</vt:lpstr>
      <vt:lpstr>Instrumentando um treino: código</vt:lpstr>
      <vt:lpstr>Instrumentando um treino: código</vt:lpstr>
      <vt:lpstr>mlflow.autolog: útil em prototipagem</vt:lpstr>
      <vt:lpstr>Model Registry: aliases substituem stages</vt:lpstr>
      <vt:lpstr>Promovendo challenger a champion</vt:lpstr>
      <vt:lpstr>Pipeline scikit-learn: anatomia</vt:lpstr>
      <vt:lpstr>Pipeline scikit-learn: código</vt:lpstr>
      <vt:lpstr>Pipeline une treino e serving. Fim da divergência.</vt:lpstr>
      <vt:lpstr>Demo: dois runs com MLflow (anatomia)</vt:lpstr>
      <vt:lpstr>Demo: dois runs com MLflow (código)</vt:lpstr>
      <vt:lpstr>Demo: dois runs com MLflow (código)</vt:lpstr>
      <vt:lpstr>Demo: comparando runs no MLflow (UI)</vt:lpstr>
      <vt:lpstr>Promover a @champion: codigo</vt:lpstr>
      <vt:lpstr>Model Registry: alias @champion (UI)</vt:lpstr>
      <vt:lpstr>Resumo da Unidade 2</vt:lpstr>
      <vt:lpstr>Intervalo até 20h25</vt:lpstr>
      <vt:lpstr>Unidade 3 (parte 1)</vt:lpstr>
      <vt:lpstr>Batch, Online, Streaming</vt:lpstr>
      <vt:lpstr>Streaming: predição sobre fluxo de eventos</vt:lpstr>
      <vt:lpstr>Decide em &lt; 1 s?  Online. Pode esperar o lote?  Batch.</vt:lpstr>
      <vt:lpstr>Por que FastAPI</vt:lpstr>
      <vt:lpstr>Endpoints padrão de um serving</vt:lpstr>
      <vt:lpstr>Microsserviço FastAPI: anatomia</vt:lpstr>
      <vt:lpstr>Microsserviço FastAPI: código</vt:lpstr>
      <vt:lpstr>/predict e validacao: codigo</vt:lpstr>
      <vt:lpstr>FastAPI: documentacao /docs (UI)</vt:lpstr>
      <vt:lpstr>Carregue o modelo no startup. Nunca dentro do /predict.</vt:lpstr>
      <vt:lpstr>Dockerfile multi-stage enxuto</vt:lpstr>
      <vt:lpstr>Build, run e healthcheck</vt:lpstr>
      <vt:lpstr>O que fechamos hoje</vt:lpstr>
      <vt:lpstr>Até amanhã às 08h45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AMANDA ALVES MOURA FÉ</dc:creator>
  <cp:lastModifiedBy>Gilvan Veras</cp:lastModifiedBy>
  <cp:revision>49</cp:revision>
  <dcterms:modified xsi:type="dcterms:W3CDTF">2026-05-30T06:03:33Z</dcterms:modified>
</cp:coreProperties>
</file>